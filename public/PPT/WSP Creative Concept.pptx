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9" r:id="rId2"/>
    <p:sldId id="256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1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626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0A1F8-B952-EC22-1853-1E2A1E06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F7B16-C9DB-2C44-E2A8-4142401D0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CB11D-94F4-7212-0180-28B75830E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0DE99-2A23-97AD-F649-FB4046EB4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49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0AC78-1CD1-5DA2-385D-B6794955F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ED45DD3E-9EAD-E3C8-E95F-D973C5F4B650}"/>
              </a:ext>
            </a:extLst>
          </p:cNvPr>
          <p:cNvSpPr/>
          <p:nvPr/>
        </p:nvSpPr>
        <p:spPr>
          <a:xfrm>
            <a:off x="1112520" y="2679365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WSP AI WORKFLOW DOCUMENTATION</a:t>
            </a:r>
            <a:endParaRPr lang="en-US" sz="28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06F08C54-562B-3107-25B4-53D0A95360B4}"/>
              </a:ext>
            </a:extLst>
          </p:cNvPr>
          <p:cNvSpPr/>
          <p:nvPr/>
        </p:nvSpPr>
        <p:spPr>
          <a:xfrm>
            <a:off x="1112520" y="345056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Engineering Tomorrow </a:t>
            </a:r>
            <a:r>
              <a:rPr lang="ar-AE" sz="1200" dirty="0">
                <a:solidFill>
                  <a:srgbClr val="FF0000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|</a:t>
            </a: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 AI-Assisted Brand Film Concept for WSP</a:t>
            </a:r>
            <a:endParaRPr lang="en-US" sz="12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pic>
        <p:nvPicPr>
          <p:cNvPr id="27" name="Image 0" descr="wsp_logo.png">
            <a:extLst>
              <a:ext uri="{FF2B5EF4-FFF2-40B4-BE49-F238E27FC236}">
                <a16:creationId xmlns:a16="http://schemas.microsoft.com/office/drawing/2014/main" id="{228FB97B-C1B9-C71F-048A-DD34D8831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760" y="1119295"/>
            <a:ext cx="1554480" cy="74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8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365760"/>
            <a:ext cx="960120" cy="4608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102E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CREATIVE CONCEPT</a:t>
            </a:r>
            <a:endParaRPr lang="en-US" sz="1100" dirty="0">
              <a:solidFill>
                <a:srgbClr val="C8102E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71323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WHERE VISION BECOMES INFRASTRUCTURE</a:t>
            </a:r>
            <a:endParaRPr lang="en-US" sz="28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129844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The film frames WSP not as a builder executing projects, but as a maker of what comes next</a:t>
            </a:r>
            <a:r>
              <a:rPr lang="ar-AE" sz="13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,</a:t>
            </a:r>
            <a:r>
              <a:rPr lang="en-US" sz="13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 a journey from idea on paper to a built reality that shapes how people live.</a:t>
            </a:r>
            <a:endParaRPr lang="en-US" sz="13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1118311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1488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</a:ln>
        </p:spPr>
      </p:sp>
      <p:sp>
        <p:nvSpPr>
          <p:cNvPr id="8" name="Text 5"/>
          <p:cNvSpPr/>
          <p:nvPr/>
        </p:nvSpPr>
        <p:spPr>
          <a:xfrm>
            <a:off x="777240" y="2377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8102E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01</a:t>
            </a:r>
            <a:endParaRPr lang="en-US" sz="2600" dirty="0">
              <a:solidFill>
                <a:srgbClr val="C8102E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63040" y="2441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THE IDEA</a:t>
            </a:r>
            <a:endParaRPr lang="en-US" sz="13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7240" y="29718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Not a company that builds a company that shapes what's next. The film follows a single arc: from an idea on paper to a built reality that changes how people live.</a:t>
            </a:r>
            <a:endParaRPr lang="en-US" sz="12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45352" y="21488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</a:ln>
        </p:spPr>
      </p:sp>
      <p:sp>
        <p:nvSpPr>
          <p:cNvPr id="12" name="Text 9"/>
          <p:cNvSpPr/>
          <p:nvPr/>
        </p:nvSpPr>
        <p:spPr>
          <a:xfrm>
            <a:off x="6519672" y="2377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8102E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02</a:t>
            </a:r>
            <a:endParaRPr lang="en-US" sz="2600" dirty="0">
              <a:solidFill>
                <a:srgbClr val="C8102E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205472" y="2441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NARRATIVE ARC</a:t>
            </a:r>
            <a:endParaRPr lang="en-US" sz="13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519672" y="29718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Understanding </a:t>
            </a:r>
            <a:r>
              <a:rPr lang="en-US" sz="1200" dirty="0">
                <a:solidFill>
                  <a:srgbClr val="FF0000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→</a:t>
            </a: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 Insight &amp; Collaboration </a:t>
            </a:r>
            <a:r>
              <a:rPr lang="en-US" sz="1200" dirty="0">
                <a:solidFill>
                  <a:srgbClr val="FF0000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→</a:t>
            </a: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 Sustainability in Action </a:t>
            </a:r>
            <a:r>
              <a:rPr lang="en-US" sz="1200" dirty="0">
                <a:solidFill>
                  <a:srgbClr val="FF0000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→</a:t>
            </a: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 Lasting Impact. Four acts, each grounded in a real WSP capability, building toward one closing image.</a:t>
            </a:r>
            <a:endParaRPr lang="en-US" sz="12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02920" y="434340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</a:ln>
        </p:spPr>
      </p:sp>
      <p:sp>
        <p:nvSpPr>
          <p:cNvPr id="16" name="Text 13"/>
          <p:cNvSpPr/>
          <p:nvPr/>
        </p:nvSpPr>
        <p:spPr>
          <a:xfrm>
            <a:off x="777240" y="4572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8102E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03</a:t>
            </a:r>
            <a:endParaRPr lang="en-US" sz="2600" dirty="0">
              <a:solidFill>
                <a:srgbClr val="C8102E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463040" y="4636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CREATIVE RATIONALE</a:t>
            </a:r>
            <a:endParaRPr lang="en-US" sz="13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77240" y="51663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Built on WSP's actual positioning</a:t>
            </a:r>
            <a:r>
              <a:rPr lang="ar-AE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, </a:t>
            </a: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the Future Ready® mindset and its real sectors (transport, energy, water, buildings)</a:t>
            </a:r>
            <a:r>
              <a:rPr lang="ar-AE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 are </a:t>
            </a: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not a generic engineering narrative.</a:t>
            </a:r>
            <a:endParaRPr lang="en-US" sz="12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245352" y="434340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161616"/>
          </a:solidFill>
          <a:ln w="3175">
            <a:solidFill>
              <a:srgbClr val="C8102E">
                <a:alpha val="50196"/>
              </a:srgbClr>
            </a:solidFill>
          </a:ln>
        </p:spPr>
      </p:sp>
      <p:sp>
        <p:nvSpPr>
          <p:cNvPr id="20" name="Text 17"/>
          <p:cNvSpPr/>
          <p:nvPr/>
        </p:nvSpPr>
        <p:spPr>
          <a:xfrm>
            <a:off x="6519672" y="4572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8102E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04</a:t>
            </a:r>
            <a:endParaRPr lang="en-US" sz="2600" dirty="0">
              <a:solidFill>
                <a:srgbClr val="C8102E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205472" y="46360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VISUAL STYLE &amp; ROLE OF AI</a:t>
            </a:r>
            <a:endParaRPr lang="en-US" sz="13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519672" y="51663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Cinematic documentary tone. AI is used strategically to accelerate production and visualize complex engineering ideas</a:t>
            </a:r>
            <a:r>
              <a:rPr lang="ar-AE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, not</a:t>
            </a: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 as the spectacle itself.</a:t>
            </a:r>
            <a:endParaRPr lang="en-US" sz="12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5" name="Text 29">
            <a:extLst>
              <a:ext uri="{FF2B5EF4-FFF2-40B4-BE49-F238E27FC236}">
                <a16:creationId xmlns:a16="http://schemas.microsoft.com/office/drawing/2014/main" id="{0E9FFFE3-41EA-D6D5-CF37-E302C063930E}"/>
              </a:ext>
            </a:extLst>
          </p:cNvPr>
          <p:cNvSpPr/>
          <p:nvPr/>
        </p:nvSpPr>
        <p:spPr>
          <a:xfrm>
            <a:off x="8778240" y="651052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 Masri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wsp_logo.png">
            <a:extLst>
              <a:ext uri="{FF2B5EF4-FFF2-40B4-BE49-F238E27FC236}">
                <a16:creationId xmlns:a16="http://schemas.microsoft.com/office/drawing/2014/main" id="{BCA01FD5-64BB-BF92-347D-F69252F49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36" y="2743200"/>
            <a:ext cx="1554480" cy="74615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9AA20E89-B25E-873E-0480-FCF20F916E15}"/>
              </a:ext>
            </a:extLst>
          </p:cNvPr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THANK YOU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DNOC Sans XBold" panose="020B0804020202020204" pitchFamily="34" charset="-78"/>
              <a:ea typeface="+mn-ea"/>
              <a:cs typeface="ADNOC Sans XBold" panose="020B0804020202020204" pitchFamily="34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196</Words>
  <Application>Microsoft Office PowerPoint</Application>
  <PresentationFormat>Widescreen</PresentationFormat>
  <Paragraphs>22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ADNOC Sans Medium</vt:lpstr>
      <vt:lpstr>ADNOC Sans XBold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Hussein Masri</cp:lastModifiedBy>
  <cp:revision>6</cp:revision>
  <dcterms:created xsi:type="dcterms:W3CDTF">2026-08-06T19:22:40Z</dcterms:created>
  <dcterms:modified xsi:type="dcterms:W3CDTF">2026-08-06T20:36:35Z</dcterms:modified>
</cp:coreProperties>
</file>