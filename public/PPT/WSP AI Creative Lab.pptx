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33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21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2960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0A1F8-B952-EC22-1853-1E2A1E06C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F7B16-C9DB-2C44-E2A8-4142401D0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FCB11D-94F4-7212-0180-28B75830E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0DE99-2A23-97AD-F649-FB4046EB4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6749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60AC78-1CD1-5DA2-385D-B6794955F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ED45DD3E-9EAD-E3C8-E95F-D973C5F4B650}"/>
              </a:ext>
            </a:extLst>
          </p:cNvPr>
          <p:cNvSpPr/>
          <p:nvPr/>
        </p:nvSpPr>
        <p:spPr>
          <a:xfrm>
            <a:off x="1112520" y="2679365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/>
            <a:r>
              <a:rPr lang="en-US" sz="28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WSP AI CREATIVE LAB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DNOC Sans XBold" panose="020B0804020202020204" pitchFamily="34" charset="-78"/>
              <a:ea typeface="Cambria" pitchFamily="34" charset="-122"/>
              <a:cs typeface="ADNOC Sans XBold" panose="020B0804020202020204" pitchFamily="34" charset="-78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06F08C54-562B-3107-25B4-53D0A95360B4}"/>
              </a:ext>
            </a:extLst>
          </p:cNvPr>
          <p:cNvSpPr/>
          <p:nvPr/>
        </p:nvSpPr>
        <p:spPr>
          <a:xfrm>
            <a:off x="1112520" y="345056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8B8B8"/>
                </a:solidFill>
                <a:effectLst/>
                <a:uLnTx/>
                <a:uFillTx/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Engineering Tomorrow </a:t>
            </a:r>
            <a:r>
              <a:rPr kumimoji="0" lang="ar-AE" sz="1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|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B8B8B8"/>
                </a:solidFill>
                <a:effectLst/>
                <a:uLnTx/>
                <a:uFillTx/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 AI-Assisted Brand Film Concept for WSP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pic>
        <p:nvPicPr>
          <p:cNvPr id="27" name="Image 0" descr="wsp_logo.png">
            <a:extLst>
              <a:ext uri="{FF2B5EF4-FFF2-40B4-BE49-F238E27FC236}">
                <a16:creationId xmlns:a16="http://schemas.microsoft.com/office/drawing/2014/main" id="{228FB97B-C1B9-C71F-048A-DD34D8831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760" y="1119295"/>
            <a:ext cx="1554480" cy="74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28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s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365760"/>
            <a:ext cx="960120" cy="4608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EE3327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CREATIVE LAB</a:t>
            </a:r>
            <a:endParaRPr lang="en-US" sz="1100" dirty="0">
              <a:solidFill>
                <a:srgbClr val="EE3327"/>
              </a:solidFill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SERVICES &amp; OPERATING MODEL</a:t>
            </a:r>
            <a:endParaRPr lang="en-US" sz="28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113385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One shared engine turning any team's brief into brand-safe, presentation-ready visuals — in days, not weeks, with no added headcount.</a:t>
            </a:r>
            <a:endParaRPr lang="en-US" sz="12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02920" y="1591056"/>
            <a:ext cx="1118311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810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E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>
              <a:solidFill>
                <a:srgbClr val="EE3327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502920" y="2103120"/>
            <a:ext cx="2590038" cy="1280160"/>
          </a:xfrm>
          <a:prstGeom prst="roundRect">
            <a:avLst>
              <a:gd name="adj" fmla="val 4286"/>
            </a:avLst>
          </a:prstGeom>
          <a:solidFill>
            <a:srgbClr val="161616"/>
          </a:solidFill>
          <a:ln w="3175">
            <a:solidFill>
              <a:srgbClr val="EE3327">
                <a:alpha val="50196"/>
              </a:srgbClr>
            </a:solidFill>
          </a:ln>
        </p:spPr>
      </p:sp>
      <p:sp>
        <p:nvSpPr>
          <p:cNvPr id="9" name="Text 6"/>
          <p:cNvSpPr/>
          <p:nvPr/>
        </p:nvSpPr>
        <p:spPr>
          <a:xfrm>
            <a:off x="685800" y="2249424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Bids &amp; Proposals</a:t>
            </a:r>
            <a:endParaRPr lang="en-US" sz="12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85800" y="2697480"/>
            <a:ext cx="22242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Concept visuals that make technical submissions visually competitive</a:t>
            </a:r>
            <a:endParaRPr lang="en-US" sz="9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67278" y="2103120"/>
            <a:ext cx="2590038" cy="1280160"/>
          </a:xfrm>
          <a:prstGeom prst="roundRect">
            <a:avLst>
              <a:gd name="adj" fmla="val 4286"/>
            </a:avLst>
          </a:prstGeom>
          <a:solidFill>
            <a:srgbClr val="161616"/>
          </a:solidFill>
          <a:ln w="3175">
            <a:solidFill>
              <a:srgbClr val="EE3327">
                <a:alpha val="50196"/>
              </a:srgbClr>
            </a:solidFill>
          </a:ln>
        </p:spPr>
      </p:sp>
      <p:sp>
        <p:nvSpPr>
          <p:cNvPr id="12" name="Text 9"/>
          <p:cNvSpPr/>
          <p:nvPr/>
        </p:nvSpPr>
        <p:spPr>
          <a:xfrm>
            <a:off x="3550158" y="2249424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Client Presentations</a:t>
            </a:r>
            <a:endParaRPr lang="en-US" sz="12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550158" y="2697480"/>
            <a:ext cx="22242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Visual narratives that turn engineering ideas into client-ready story</a:t>
            </a:r>
            <a:endParaRPr lang="en-US" sz="9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231636" y="2103120"/>
            <a:ext cx="2590038" cy="1280160"/>
          </a:xfrm>
          <a:prstGeom prst="roundRect">
            <a:avLst>
              <a:gd name="adj" fmla="val 4286"/>
            </a:avLst>
          </a:prstGeom>
          <a:solidFill>
            <a:srgbClr val="161616"/>
          </a:solidFill>
          <a:ln w="3175">
            <a:solidFill>
              <a:srgbClr val="EE3327">
                <a:alpha val="50196"/>
              </a:srgbClr>
            </a:solidFill>
          </a:ln>
        </p:spPr>
      </p:sp>
      <p:sp>
        <p:nvSpPr>
          <p:cNvPr id="15" name="Text 12"/>
          <p:cNvSpPr/>
          <p:nvPr/>
        </p:nvSpPr>
        <p:spPr>
          <a:xfrm>
            <a:off x="6414516" y="2249424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Project Visualization</a:t>
            </a:r>
            <a:endParaRPr lang="en-US" sz="12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414516" y="2697480"/>
            <a:ext cx="22242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Concept-to-reality renders before ground is broken</a:t>
            </a:r>
            <a:endParaRPr lang="en-US" sz="9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095994" y="2103120"/>
            <a:ext cx="2590038" cy="1280160"/>
          </a:xfrm>
          <a:prstGeom prst="roundRect">
            <a:avLst>
              <a:gd name="adj" fmla="val 4286"/>
            </a:avLst>
          </a:prstGeom>
          <a:solidFill>
            <a:srgbClr val="161616"/>
          </a:solidFill>
          <a:ln w="3175">
            <a:solidFill>
              <a:srgbClr val="EE3327">
                <a:alpha val="50196"/>
              </a:srgbClr>
            </a:solidFill>
          </a:ln>
        </p:spPr>
      </p:sp>
      <p:sp>
        <p:nvSpPr>
          <p:cNvPr id="18" name="Text 15"/>
          <p:cNvSpPr/>
          <p:nvPr/>
        </p:nvSpPr>
        <p:spPr>
          <a:xfrm>
            <a:off x="9278874" y="2249424"/>
            <a:ext cx="2224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Leadership &amp; Internal Comms</a:t>
            </a:r>
            <a:endParaRPr lang="en-US" sz="12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278874" y="2697480"/>
            <a:ext cx="22242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Campaign visuals and internal brand storytelling</a:t>
            </a:r>
            <a:endParaRPr lang="en-US" sz="9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02920" y="3703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E3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&amp; INTAKE</a:t>
            </a:r>
            <a:endParaRPr lang="en-US" sz="1100" dirty="0">
              <a:solidFill>
                <a:srgbClr val="EE3327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502920" y="399592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E3327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01</a:t>
            </a:r>
            <a:endParaRPr lang="en-US" sz="1800" dirty="0">
              <a:solidFill>
                <a:srgbClr val="EE3327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51560" y="4014216"/>
            <a:ext cx="2996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Central Hub</a:t>
            </a:r>
            <a:endParaRPr lang="en-US" sz="12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02920" y="4416552"/>
            <a:ext cx="28643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2-3 specialists + regional "AI Champions" across business units</a:t>
            </a:r>
            <a:endParaRPr lang="en-US" sz="9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322064" y="399592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E3327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02</a:t>
            </a:r>
            <a:endParaRPr lang="en-US" sz="1800" dirty="0">
              <a:solidFill>
                <a:srgbClr val="EE3327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870704" y="4014216"/>
            <a:ext cx="2996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Standard Intake Form</a:t>
            </a:r>
            <a:endParaRPr lang="en-US" sz="12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322064" y="4416552"/>
            <a:ext cx="265852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Objective, audience, deadline, sensitivity one shared queue</a:t>
            </a:r>
            <a:endParaRPr lang="en-US" sz="9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8141208" y="3995928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E3327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03</a:t>
            </a:r>
            <a:endParaRPr lang="en-US" sz="1800" dirty="0">
              <a:solidFill>
                <a:srgbClr val="EE3327"/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689848" y="4014216"/>
            <a:ext cx="2996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SLA-Backed Turnaround</a:t>
            </a:r>
            <a:endParaRPr lang="en-US" sz="12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141208" y="4416552"/>
            <a:ext cx="3270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24-hr acknowledgment, 3-5 day first draft; fast-track lane for bids</a:t>
            </a:r>
            <a:endParaRPr lang="en-US" sz="9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02920" y="5166360"/>
            <a:ext cx="11183112" cy="566928"/>
          </a:xfrm>
          <a:prstGeom prst="roundRect">
            <a:avLst>
              <a:gd name="adj" fmla="val 9677"/>
            </a:avLst>
          </a:prstGeom>
          <a:solidFill>
            <a:srgbClr val="161616"/>
          </a:solidFill>
          <a:ln w="3175">
            <a:solidFill>
              <a:srgbClr val="EE33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7240" y="51663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kern="0" spc="100" dirty="0">
                <a:solidFill>
                  <a:srgbClr val="EE3327"/>
                </a:solidFill>
                <a:latin typeface="ADNOC Sans XBold" panose="020B0804020202020204" pitchFamily="34" charset="-78"/>
                <a:ea typeface="ADNOC Sans Medium" panose="020B0504020202020204" pitchFamily="34" charset="0"/>
                <a:cs typeface="ADNOC Sans XBold" panose="020B0804020202020204" pitchFamily="34" charset="-78"/>
              </a:rPr>
              <a:t>WHY IT PAYS OFF   </a:t>
            </a: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Bids move faster with in-house visuals instead of agency turnaround; leadership content ships without ad-hoc freelance spend; every asset stays on-brand by design, not by luck.</a:t>
            </a:r>
            <a:endParaRPr lang="en-US" sz="10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778240" y="651052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Hussein Masri</a:t>
            </a:r>
            <a:endParaRPr lang="en-US" sz="900" dirty="0"/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F121081F-661E-F500-A995-784CD893FCD2}"/>
              </a:ext>
            </a:extLst>
          </p:cNvPr>
          <p:cNvSpPr/>
          <p:nvPr/>
        </p:nvSpPr>
        <p:spPr>
          <a:xfrm>
            <a:off x="3561990" y="4142231"/>
            <a:ext cx="216789" cy="740405"/>
          </a:xfrm>
          <a:prstGeom prst="chevron">
            <a:avLst>
              <a:gd name="adj" fmla="val 88858"/>
            </a:avLst>
          </a:prstGeom>
          <a:solidFill>
            <a:srgbClr val="EE33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Arrow: Chevron 33">
            <a:extLst>
              <a:ext uri="{FF2B5EF4-FFF2-40B4-BE49-F238E27FC236}">
                <a16:creationId xmlns:a16="http://schemas.microsoft.com/office/drawing/2014/main" id="{DFD8BD2B-D19C-C969-9F71-664DC4FA1EE3}"/>
              </a:ext>
            </a:extLst>
          </p:cNvPr>
          <p:cNvSpPr/>
          <p:nvPr/>
        </p:nvSpPr>
        <p:spPr>
          <a:xfrm>
            <a:off x="7452503" y="4142231"/>
            <a:ext cx="216789" cy="740405"/>
          </a:xfrm>
          <a:prstGeom prst="chevron">
            <a:avLst>
              <a:gd name="adj" fmla="val 88858"/>
            </a:avLst>
          </a:prstGeom>
          <a:solidFill>
            <a:srgbClr val="EE332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s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365760"/>
            <a:ext cx="960120" cy="4608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C8102E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AI CREATIVE LAB</a:t>
            </a:r>
            <a:endParaRPr lang="en-US" sz="11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02920" y="6400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ADNOC Sans XBold" panose="020B0804020202020204" pitchFamily="34" charset="-78"/>
                <a:ea typeface="Cambria" pitchFamily="34" charset="-122"/>
                <a:cs typeface="ADNOC Sans XBold" panose="020B0804020202020204" pitchFamily="34" charset="-78"/>
              </a:rPr>
              <a:t>GOVERNANCE, TOOLS &amp; ROLLOUT</a:t>
            </a:r>
            <a:endParaRPr lang="en-US" sz="28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5" name="Text 2"/>
          <p:cNvSpPr/>
          <p:nvPr/>
        </p:nvSpPr>
        <p:spPr>
          <a:xfrm>
            <a:off x="502920" y="1133856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Quality control, commercial discipline, and a phased path to full adoption.</a:t>
            </a:r>
            <a:endParaRPr lang="en-US" sz="12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02920" y="1591056"/>
            <a:ext cx="11183112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78308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161616"/>
          </a:solidFill>
          <a:ln w="3175">
            <a:solidFill>
              <a:srgbClr val="EE3327">
                <a:alpha val="50196"/>
              </a:srgbClr>
            </a:solidFill>
          </a:ln>
        </p:spPr>
      </p:sp>
      <p:sp>
        <p:nvSpPr>
          <p:cNvPr id="8" name="Text 5"/>
          <p:cNvSpPr/>
          <p:nvPr/>
        </p:nvSpPr>
        <p:spPr>
          <a:xfrm>
            <a:off x="73152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C8102E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QUALITY &amp; BRAND GOVERNANCE</a:t>
            </a:r>
            <a:endParaRPr lang="en-US" sz="11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9" name="Text 6"/>
          <p:cNvSpPr/>
          <p:nvPr/>
        </p:nvSpPr>
        <p:spPr>
          <a:xfrm>
            <a:off x="731520" y="235000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Mandatory brand-team review before external use</a:t>
            </a:r>
            <a:endParaRPr lang="en-US" sz="10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Approved prompt &amp; template library keeps output on-brand</a:t>
            </a:r>
            <a:endParaRPr lang="en-US" sz="10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5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Two-tier sign-off: client-facing vs. internal content</a:t>
            </a:r>
            <a:endParaRPr lang="en-US" sz="10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63640" y="1783080"/>
            <a:ext cx="5394960" cy="1783080"/>
          </a:xfrm>
          <a:prstGeom prst="roundRect">
            <a:avLst>
              <a:gd name="adj" fmla="val 3077"/>
            </a:avLst>
          </a:prstGeom>
          <a:solidFill>
            <a:srgbClr val="161616"/>
          </a:solidFill>
          <a:ln w="3175">
            <a:solidFill>
              <a:srgbClr val="EE3327">
                <a:alpha val="50196"/>
              </a:srgbClr>
            </a:solidFill>
          </a:ln>
        </p:spPr>
      </p:sp>
      <p:sp>
        <p:nvSpPr>
          <p:cNvPr id="11" name="Text 8"/>
          <p:cNvSpPr/>
          <p:nvPr/>
        </p:nvSpPr>
        <p:spPr>
          <a:xfrm>
            <a:off x="6492240" y="1965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C8102E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RECOMMENDED TOOLS</a:t>
            </a:r>
            <a:endParaRPr lang="en-US" sz="11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92240" y="2350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8A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Ideation &amp; scripting</a:t>
            </a:r>
            <a:endParaRPr lang="en-US" sz="9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595360" y="23500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ChatGPT, Claude</a:t>
            </a:r>
            <a:endParaRPr lang="en-US" sz="10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9224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8A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Image generation</a:t>
            </a:r>
            <a:endParaRPr lang="en-US" sz="9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595360" y="2651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Midjourney, Adobe Firefly, Higgsfield</a:t>
            </a:r>
            <a:endParaRPr lang="en-US" sz="10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492240" y="2953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8A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Video generation</a:t>
            </a:r>
            <a:endParaRPr lang="en-US" sz="9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595360" y="2953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Kling, Google Flow, Higgsfield</a:t>
            </a:r>
            <a:endParaRPr lang="en-US" sz="10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492240" y="32552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8A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Post-production</a:t>
            </a:r>
            <a:endParaRPr lang="en-US" sz="95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595360" y="32552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Adobe Creative Cloud</a:t>
            </a:r>
            <a:endParaRPr lang="en-US" sz="10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02920" y="3840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ROADMAP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4133088"/>
            <a:ext cx="3544824" cy="868680"/>
          </a:xfrm>
          <a:prstGeom prst="roundRect">
            <a:avLst>
              <a:gd name="adj" fmla="val 6316"/>
            </a:avLst>
          </a:prstGeom>
          <a:solidFill>
            <a:srgbClr val="161616"/>
          </a:solidFill>
          <a:ln w="3175">
            <a:solidFill>
              <a:srgbClr val="EE3327">
                <a:alpha val="50196"/>
              </a:srgbClr>
            </a:solidFill>
          </a:ln>
        </p:spPr>
      </p:sp>
      <p:sp>
        <p:nvSpPr>
          <p:cNvPr id="22" name="Text 19"/>
          <p:cNvSpPr/>
          <p:nvPr/>
        </p:nvSpPr>
        <p:spPr>
          <a:xfrm>
            <a:off x="704088" y="4261104"/>
            <a:ext cx="314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8102E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PILOT  </a:t>
            </a:r>
            <a:r>
              <a:rPr lang="en-US" sz="900" dirty="0">
                <a:solidFill>
                  <a:srgbClr val="8A8A8A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0-3 MO</a:t>
            </a:r>
            <a:endParaRPr lang="en-US" sz="11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04088" y="4517136"/>
            <a:ext cx="3142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One business unit, 2-3 flagship bids/campaigns; validate quality &amp; turnaround</a:t>
            </a:r>
            <a:endParaRPr lang="en-US" sz="9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322064" y="4133088"/>
            <a:ext cx="3544824" cy="868680"/>
          </a:xfrm>
          <a:prstGeom prst="roundRect">
            <a:avLst>
              <a:gd name="adj" fmla="val 6316"/>
            </a:avLst>
          </a:prstGeom>
          <a:solidFill>
            <a:srgbClr val="161616"/>
          </a:solidFill>
          <a:ln w="3175">
            <a:solidFill>
              <a:srgbClr val="EE3327">
                <a:alpha val="50196"/>
              </a:srgbClr>
            </a:solidFill>
          </a:ln>
        </p:spPr>
      </p:sp>
      <p:sp>
        <p:nvSpPr>
          <p:cNvPr id="25" name="Text 22"/>
          <p:cNvSpPr/>
          <p:nvPr/>
        </p:nvSpPr>
        <p:spPr>
          <a:xfrm>
            <a:off x="4523232" y="4261104"/>
            <a:ext cx="314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8102E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SCALE  </a:t>
            </a:r>
            <a:r>
              <a:rPr lang="en-US" sz="900" dirty="0">
                <a:solidFill>
                  <a:srgbClr val="8A8A8A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3-6 MO</a:t>
            </a:r>
            <a:endParaRPr lang="en-US" sz="11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4523232" y="4517136"/>
            <a:ext cx="2947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Open intake company-wide; publish template library and SLA</a:t>
            </a:r>
            <a:endParaRPr lang="en-US" sz="9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8141208" y="4133088"/>
            <a:ext cx="3544824" cy="868680"/>
          </a:xfrm>
          <a:prstGeom prst="roundRect">
            <a:avLst>
              <a:gd name="adj" fmla="val 6316"/>
            </a:avLst>
          </a:prstGeom>
          <a:solidFill>
            <a:srgbClr val="161616"/>
          </a:solidFill>
          <a:ln w="3175">
            <a:solidFill>
              <a:srgbClr val="EE3327">
                <a:alpha val="50196"/>
              </a:srgbClr>
            </a:solidFill>
          </a:ln>
        </p:spPr>
      </p:sp>
      <p:sp>
        <p:nvSpPr>
          <p:cNvPr id="28" name="Text 25"/>
          <p:cNvSpPr/>
          <p:nvPr/>
        </p:nvSpPr>
        <p:spPr>
          <a:xfrm>
            <a:off x="8342376" y="4261104"/>
            <a:ext cx="314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C8102E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EMBED  </a:t>
            </a:r>
            <a:r>
              <a:rPr lang="en-US" sz="900" dirty="0">
                <a:solidFill>
                  <a:srgbClr val="8A8A8A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6-12 MO</a:t>
            </a:r>
            <a:endParaRPr lang="en-US" sz="11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342376" y="4517136"/>
            <a:ext cx="3142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Standard step in bid &amp; campaign workflows; quarterly cost/impact review</a:t>
            </a:r>
            <a:endParaRPr lang="en-US" sz="9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02920" y="5257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8A8A8A"/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COST TRACKING &amp; REPORTING</a:t>
            </a:r>
            <a:endParaRPr lang="en-US" sz="1100" dirty="0"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502920" y="553212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A shared subscription pool replaces per-designer licenses. Every request is logged against </a:t>
            </a:r>
            <a:r>
              <a:rPr lang="ar-AE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the </a:t>
            </a: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project, tool, and time spent</a:t>
            </a:r>
            <a:r>
              <a:rPr lang="ar-AE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, </a:t>
            </a:r>
            <a:r>
              <a:rPr lang="en-US" sz="1000" dirty="0">
                <a:solidFill>
                  <a:srgbClr val="B8B8B8"/>
                </a:solidFill>
                <a:latin typeface="ADNOC Sans Medium" panose="020B0504020202020204" pitchFamily="34" charset="0"/>
                <a:ea typeface="ADNOC Sans Medium" panose="020B0504020202020204" pitchFamily="34" charset="0"/>
                <a:cs typeface="ADNOC Sans Medium" panose="020B0504020202020204" pitchFamily="34" charset="0"/>
              </a:rPr>
              <a:t>rolling into a monthly dashboard: cost per asset, spend by business unit, and comparison against equivalent agency rates, reviewed with finance quarterly.</a:t>
            </a:r>
            <a:endParaRPr lang="en-US" sz="1000" dirty="0">
              <a:latin typeface="ADNOC Sans Medium" panose="020B0504020202020204" pitchFamily="34" charset="0"/>
              <a:ea typeface="ADNOC Sans Medium" panose="020B0504020202020204" pitchFamily="34" charset="0"/>
              <a:cs typeface="ADNOC Sans Medium" panose="020B0504020202020204" pitchFamily="34" charset="0"/>
            </a:endParaRPr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C7093D30-589D-7C9C-A280-588B80BA4028}"/>
              </a:ext>
            </a:extLst>
          </p:cNvPr>
          <p:cNvSpPr/>
          <p:nvPr/>
        </p:nvSpPr>
        <p:spPr>
          <a:xfrm>
            <a:off x="8778240" y="6510528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Hussein Masri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s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236" y="2743200"/>
            <a:ext cx="1554480" cy="746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ADNOC Sans XBold" panose="020B0804020202020204" pitchFamily="34" charset="-78"/>
                <a:ea typeface="Calibri" pitchFamily="34" charset="-122"/>
                <a:cs typeface="ADNOC Sans XBold" panose="020B0804020202020204" pitchFamily="34" charset="-78"/>
              </a:rPr>
              <a:t>THANK YOU</a:t>
            </a: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  <a:latin typeface="ADNOC Sans XBold" panose="020B0804020202020204" pitchFamily="34" charset="-78"/>
              <a:cs typeface="ADNOC Sans XBold" panose="020B0804020202020204" pitchFamily="34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352</Words>
  <Application>Microsoft Office PowerPoint</Application>
  <PresentationFormat>Widescreen</PresentationFormat>
  <Paragraphs>57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ADNOC Sans Medium</vt:lpstr>
      <vt:lpstr>ADNOC Sans XBold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Hussein Masri</cp:lastModifiedBy>
  <cp:revision>4</cp:revision>
  <dcterms:created xsi:type="dcterms:W3CDTF">2026-08-06T19:21:48Z</dcterms:created>
  <dcterms:modified xsi:type="dcterms:W3CDTF">2026-08-06T20:38:43Z</dcterms:modified>
</cp:coreProperties>
</file>