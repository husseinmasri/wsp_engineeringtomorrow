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1" r:id="rId4"/>
    <p:sldId id="262" r:id="rId5"/>
    <p:sldId id="263" r:id="rId6"/>
    <p:sldId id="258" r:id="rId7"/>
    <p:sldId id="259" r:id="rId8"/>
    <p:sldId id="260"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3327"/>
    <a:srgbClr val="C810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2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761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DCEF-F1D3-61C9-84B0-FAEDEB53B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87E50-1F14-17BB-AC2C-3FAEB0F4B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F8D51-2B02-68B3-7362-F975A528F1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6567D8-8921-C2F0-3361-D521C51C964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19063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81872-38A8-F205-145A-07013D69E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85BD6-8AA0-0287-2D18-C0CEC1CDE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B899A-6D58-E235-E244-7107AF7EBC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058B0E-7751-A8E6-BECD-5D5691FAC21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62346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85470-A116-EFE1-D897-710BCB14F0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E1B9D-B56D-A456-2EE9-8B9CFE9F0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7B5F4-ABE8-0BBF-3113-276A565530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BDA97-7175-B16B-7B2C-1E00660EA37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07037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jp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jp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pic>
        <p:nvPicPr>
          <p:cNvPr id="2" name="Image 0" descr="assets/render1_small.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0A0A0A">
              <a:alpha val="58000"/>
            </a:srgbClr>
          </a:solidFill>
          <a:ln/>
        </p:spPr>
      </p:sp>
      <p:sp>
        <p:nvSpPr>
          <p:cNvPr id="4" name="Shape 1"/>
          <p:cNvSpPr/>
          <p:nvPr/>
        </p:nvSpPr>
        <p:spPr>
          <a:xfrm>
            <a:off x="0" y="3931920"/>
            <a:ext cx="12188952" cy="2926080"/>
          </a:xfrm>
          <a:prstGeom prst="rect">
            <a:avLst/>
          </a:prstGeom>
          <a:solidFill>
            <a:srgbClr val="0A0A0A">
              <a:alpha val="92000"/>
            </a:srgbClr>
          </a:solidFill>
          <a:ln/>
        </p:spPr>
      </p:sp>
      <p:pic>
        <p:nvPicPr>
          <p:cNvPr id="5" name="Image 1" descr="assets/wsp_logo.png"/>
          <p:cNvPicPr>
            <a:picLocks noChangeAspect="1"/>
          </p:cNvPicPr>
          <p:nvPr/>
        </p:nvPicPr>
        <p:blipFill>
          <a:blip r:embed="rId4"/>
          <a:stretch>
            <a:fillRect/>
          </a:stretch>
        </p:blipFill>
        <p:spPr>
          <a:xfrm>
            <a:off x="502920" y="457200"/>
            <a:ext cx="1051560" cy="504749"/>
          </a:xfrm>
          <a:prstGeom prst="rect">
            <a:avLst/>
          </a:prstGeom>
        </p:spPr>
      </p:pic>
      <p:sp>
        <p:nvSpPr>
          <p:cNvPr id="6" name="Text 2"/>
          <p:cNvSpPr/>
          <p:nvPr/>
        </p:nvSpPr>
        <p:spPr>
          <a:xfrm>
            <a:off x="502920" y="4160520"/>
            <a:ext cx="9144000" cy="320040"/>
          </a:xfrm>
          <a:prstGeom prst="rect">
            <a:avLst/>
          </a:prstGeom>
          <a:noFill/>
          <a:ln/>
        </p:spPr>
        <p:txBody>
          <a:bodyPr wrap="square" lIns="0" tIns="0" rIns="0" bIns="0" rtlCol="0" anchor="ctr"/>
          <a:lstStyle/>
          <a:p>
            <a:pPr marL="0" indent="0">
              <a:buNone/>
            </a:pPr>
            <a:r>
              <a:rPr lang="en-US" sz="1200" kern="0" spc="4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FINAL ASSESSMENT</a:t>
            </a:r>
            <a:endParaRPr lang="en-US" sz="12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7" name="Text 3"/>
          <p:cNvSpPr/>
          <p:nvPr/>
        </p:nvSpPr>
        <p:spPr>
          <a:xfrm>
            <a:off x="502920" y="4480560"/>
            <a:ext cx="10515600" cy="1005840"/>
          </a:xfrm>
          <a:prstGeom prst="rect">
            <a:avLst/>
          </a:prstGeom>
          <a:noFill/>
          <a:ln/>
        </p:spPr>
        <p:txBody>
          <a:bodyPr wrap="square" lIns="0" tIns="0" rIns="0" bIns="0" rtlCol="0" anchor="ctr"/>
          <a:lstStyle/>
          <a:p>
            <a:pPr marL="0" indent="0">
              <a:buNone/>
            </a:pPr>
            <a:r>
              <a:rPr lang="en-US" sz="3600" dirty="0">
                <a:solidFill>
                  <a:srgbClr val="FFFFFF"/>
                </a:solidFill>
                <a:latin typeface="ADNOC Sans XBold" panose="020B0804020202020204" pitchFamily="34" charset="-78"/>
                <a:ea typeface="ADNOC Sans" panose="020B0504020202020204" pitchFamily="34" charset="0"/>
                <a:cs typeface="ADNOC Sans XBold" panose="020B0804020202020204" pitchFamily="34" charset="-78"/>
              </a:rPr>
              <a:t>FROM PROGRAMME TO NARRATIVE</a:t>
            </a:r>
            <a:endParaRPr lang="en-US" sz="3600" dirty="0">
              <a:latin typeface="ADNOC Sans XBold" panose="020B0804020202020204" pitchFamily="34" charset="-78"/>
              <a:ea typeface="ADNOC Sans" panose="020B0504020202020204" pitchFamily="34" charset="0"/>
              <a:cs typeface="ADNOC Sans XBold" panose="020B0804020202020204" pitchFamily="34" charset="-78"/>
            </a:endParaRPr>
          </a:p>
        </p:txBody>
      </p:sp>
      <p:sp>
        <p:nvSpPr>
          <p:cNvPr id="8" name="Text 4"/>
          <p:cNvSpPr/>
          <p:nvPr/>
        </p:nvSpPr>
        <p:spPr>
          <a:xfrm>
            <a:off x="502920" y="5349240"/>
            <a:ext cx="10058400" cy="457200"/>
          </a:xfrm>
          <a:prstGeom prst="rect">
            <a:avLst/>
          </a:prstGeom>
          <a:noFill/>
          <a:ln/>
        </p:spPr>
        <p:txBody>
          <a:bodyPr wrap="square" lIns="0" tIns="0" rIns="0" bIns="0" rtlCol="0" anchor="ctr"/>
          <a:lstStyle/>
          <a:p>
            <a:pPr marL="0" indent="0">
              <a:buNone/>
            </a:pPr>
            <a:r>
              <a:rPr lang="en-US" sz="1450" dirty="0">
                <a:solidFill>
                  <a:srgbClr val="E5E5E5"/>
                </a:solidFill>
                <a:latin typeface="ADNOC Sans Light" panose="020B0404020202020204" pitchFamily="34" charset="0"/>
                <a:ea typeface="ADNOC Sans Light" panose="020B0404020202020204" pitchFamily="34" charset="0"/>
                <a:cs typeface="ADNOC Sans Light" panose="020B0404020202020204" pitchFamily="34" charset="0"/>
              </a:rPr>
              <a:t>A Visual Communication Strategy for a Large-Scale Data Centre Development</a:t>
            </a:r>
            <a:endParaRPr lang="en-US" sz="14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9" name="Shape 5"/>
          <p:cNvSpPr/>
          <p:nvPr/>
        </p:nvSpPr>
        <p:spPr>
          <a:xfrm>
            <a:off x="502920" y="5943600"/>
            <a:ext cx="2926080" cy="0"/>
          </a:xfrm>
          <a:prstGeom prst="line">
            <a:avLst/>
          </a:prstGeom>
          <a:noFill/>
          <a:ln w="25400">
            <a:solidFill>
              <a:srgbClr val="EE3327"/>
            </a:solidFill>
            <a:prstDash val="solid"/>
          </a:ln>
        </p:spPr>
      </p:sp>
      <p:sp>
        <p:nvSpPr>
          <p:cNvPr id="10" name="Text 6"/>
          <p:cNvSpPr/>
          <p:nvPr/>
        </p:nvSpPr>
        <p:spPr>
          <a:xfrm>
            <a:off x="502920" y="6263640"/>
            <a:ext cx="7315200" cy="274320"/>
          </a:xfrm>
          <a:prstGeom prst="rect">
            <a:avLst/>
          </a:prstGeom>
          <a:noFill/>
          <a:ln/>
        </p:spPr>
        <p:txBody>
          <a:bodyPr wrap="square" lIns="0" tIns="0" rIns="0" bIns="0" rtlCol="0" anchor="ctr"/>
          <a:lstStyle/>
          <a:p>
            <a:pPr marL="0" indent="0">
              <a:buNone/>
            </a:pPr>
            <a:r>
              <a:rPr lang="en-US" sz="1050" kern="0" spc="100" dirty="0">
                <a:solidFill>
                  <a:srgbClr val="CFCFCF"/>
                </a:solidFill>
                <a:latin typeface="Calibri" pitchFamily="34" charset="0"/>
                <a:ea typeface="Calibri" pitchFamily="34" charset="-122"/>
                <a:cs typeface="Calibri" pitchFamily="34" charset="-120"/>
              </a:rPr>
              <a:t>AI-First Multimedia Designer  —  Hussein Masri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a:effectLst/>
      </p:bgPr>
    </p:bg>
    <p:spTree>
      <p:nvGrpSpPr>
        <p:cNvPr id="1" name=""/>
        <p:cNvGrpSpPr/>
        <p:nvPr/>
      </p:nvGrpSpPr>
      <p:grpSpPr>
        <a:xfrm>
          <a:off x="0" y="0"/>
          <a:ext cx="0" cy="0"/>
          <a:chOff x="0" y="0"/>
          <a:chExt cx="0" cy="0"/>
        </a:xfrm>
      </p:grpSpPr>
      <p:pic>
        <p:nvPicPr>
          <p:cNvPr id="2" name="Image 0" descr="assets/wsp_logo.png"/>
          <p:cNvPicPr>
            <a:picLocks noChangeAspect="1"/>
          </p:cNvPicPr>
          <p:nvPr/>
        </p:nvPicPr>
        <p:blipFill>
          <a:blip r:embed="rId3"/>
          <a:stretch>
            <a:fillRect/>
          </a:stretch>
        </p:blipFill>
        <p:spPr>
          <a:xfrm>
            <a:off x="10771632" y="365760"/>
            <a:ext cx="960120" cy="460858"/>
          </a:xfrm>
          <a:prstGeom prst="rect">
            <a:avLst/>
          </a:prstGeom>
        </p:spPr>
      </p:pic>
      <p:sp>
        <p:nvSpPr>
          <p:cNvPr id="3"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100" kern="0" spc="3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01 — VISUAL NARRATIVE &amp; SEQUENCING</a:t>
            </a:r>
            <a:endParaRPr lang="en-US" sz="11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4" name="Text 1"/>
          <p:cNvSpPr/>
          <p:nvPr/>
        </p:nvSpPr>
        <p:spPr>
          <a:xfrm>
            <a:off x="502920" y="621792"/>
            <a:ext cx="9966960" cy="502920"/>
          </a:xfrm>
          <a:prstGeom prst="rect">
            <a:avLst/>
          </a:prstGeom>
          <a:noFill/>
          <a:ln/>
        </p:spPr>
        <p:txBody>
          <a:bodyPr wrap="square" lIns="0" tIns="0" rIns="0" bIns="0" rtlCol="0" anchor="ctr"/>
          <a:lstStyle/>
          <a:p>
            <a:pPr marL="0" indent="0">
              <a:buNone/>
            </a:pPr>
            <a:r>
              <a:rPr lang="en-US" sz="2300" dirty="0">
                <a:solidFill>
                  <a:srgbClr val="FFFFFF"/>
                </a:solidFill>
                <a:latin typeface="ADNOC Sans XBold" panose="020B0804020202020204" pitchFamily="34" charset="-78"/>
                <a:ea typeface="Cambria" pitchFamily="34" charset="-122"/>
                <a:cs typeface="ADNOC Sans XBold" panose="020B0804020202020204" pitchFamily="34" charset="-78"/>
              </a:rPr>
              <a:t>A 60-Second Executive Journey: </a:t>
            </a:r>
            <a:r>
              <a:rPr lang="en-US" sz="2300" dirty="0">
                <a:solidFill>
                  <a:srgbClr val="EE3327"/>
                </a:solidFill>
                <a:latin typeface="ADNOC Sans XBold" panose="020B0804020202020204" pitchFamily="34" charset="-78"/>
                <a:ea typeface="Cambria" pitchFamily="34" charset="-122"/>
                <a:cs typeface="ADNOC Sans XBold" panose="020B0804020202020204" pitchFamily="34" charset="-78"/>
              </a:rPr>
              <a:t>Vision to Operations</a:t>
            </a:r>
            <a:endParaRPr lang="en-US" sz="2300" dirty="0">
              <a:solidFill>
                <a:srgbClr val="EE3327"/>
              </a:solidFill>
              <a:latin typeface="ADNOC Sans XBold" panose="020B0804020202020204" pitchFamily="34" charset="-78"/>
              <a:cs typeface="ADNOC Sans XBold" panose="020B0804020202020204" pitchFamily="34" charset="-78"/>
            </a:endParaRPr>
          </a:p>
        </p:txBody>
      </p:sp>
      <p:sp>
        <p:nvSpPr>
          <p:cNvPr id="5" name="Text 2"/>
          <p:cNvSpPr/>
          <p:nvPr/>
        </p:nvSpPr>
        <p:spPr>
          <a:xfrm>
            <a:off x="502920" y="1097280"/>
            <a:ext cx="9966960" cy="320040"/>
          </a:xfrm>
          <a:prstGeom prst="rect">
            <a:avLst/>
          </a:prstGeom>
          <a:noFill/>
          <a:ln/>
        </p:spPr>
        <p:txBody>
          <a:bodyPr wrap="square" lIns="0" tIns="0" rIns="0" bIns="0" rtlCol="0" anchor="ctr"/>
          <a:lstStyle/>
          <a:p>
            <a:pPr marL="0" indent="0">
              <a:buNone/>
            </a:pPr>
            <a:r>
              <a:rPr lang="en-US" sz="11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Scale </a:t>
            </a:r>
            <a:r>
              <a:rPr lang="en-US" sz="1150" dirty="0">
                <a:solidFill>
                  <a:srgbClr val="EE3327"/>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11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Complexity </a:t>
            </a:r>
            <a:r>
              <a:rPr lang="en-US" sz="1150" dirty="0">
                <a:solidFill>
                  <a:srgbClr val="EE3327"/>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11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Delivery </a:t>
            </a:r>
            <a:r>
              <a:rPr lang="en-US" sz="1150" dirty="0">
                <a:solidFill>
                  <a:srgbClr val="EE3327"/>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11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Outcome, told across three acts, each anchored to a real project asset, not a generic template.</a:t>
            </a:r>
            <a:endParaRPr lang="en-US" sz="11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6" name="Shape 3"/>
          <p:cNvSpPr/>
          <p:nvPr/>
        </p:nvSpPr>
        <p:spPr>
          <a:xfrm>
            <a:off x="502920" y="1481328"/>
            <a:ext cx="11183112" cy="0"/>
          </a:xfrm>
          <a:prstGeom prst="line">
            <a:avLst/>
          </a:prstGeom>
          <a:noFill/>
          <a:ln w="12700">
            <a:solidFill>
              <a:srgbClr val="2A2A2A"/>
            </a:solidFill>
            <a:prstDash val="solid"/>
          </a:ln>
        </p:spPr>
      </p:sp>
      <p:sp>
        <p:nvSpPr>
          <p:cNvPr id="7" name="Text 4"/>
          <p:cNvSpPr/>
          <p:nvPr/>
        </p:nvSpPr>
        <p:spPr>
          <a:xfrm>
            <a:off x="8778240" y="6528816"/>
            <a:ext cx="2907792" cy="256032"/>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Hussein Masri</a:t>
            </a:r>
            <a:endParaRPr lang="en-US" sz="1000" dirty="0"/>
          </a:p>
        </p:txBody>
      </p:sp>
      <p:sp>
        <p:nvSpPr>
          <p:cNvPr id="8" name="Text 5"/>
          <p:cNvSpPr/>
          <p:nvPr/>
        </p:nvSpPr>
        <p:spPr>
          <a:xfrm>
            <a:off x="502920" y="1627632"/>
            <a:ext cx="8229600" cy="228600"/>
          </a:xfrm>
          <a:prstGeom prst="rect">
            <a:avLst/>
          </a:prstGeom>
          <a:noFill/>
          <a:ln/>
        </p:spPr>
        <p:txBody>
          <a:bodyPr wrap="square" lIns="0" tIns="0" rIns="0" bIns="0" rtlCol="0" anchor="ctr"/>
          <a:lstStyle/>
          <a:p>
            <a:pPr marL="0" indent="0">
              <a:buNone/>
            </a:pPr>
            <a:r>
              <a:rPr lang="en-US" sz="950" b="1" kern="0" spc="100" dirty="0">
                <a:solidFill>
                  <a:srgbClr val="8A8A8A"/>
                </a:solidFill>
                <a:latin typeface="Calibri" pitchFamily="34" charset="0"/>
                <a:ea typeface="Calibri" pitchFamily="34" charset="-122"/>
                <a:cs typeface="Calibri" pitchFamily="34" charset="-120"/>
              </a:rPr>
              <a:t>SEQUENCE MAP  —  EACH ACT ANCHORED TO A REAL ASSET</a:t>
            </a:r>
            <a:endParaRPr lang="en-US" sz="950" dirty="0"/>
          </a:p>
        </p:txBody>
      </p:sp>
      <p:sp>
        <p:nvSpPr>
          <p:cNvPr id="9" name="Shape 6"/>
          <p:cNvSpPr/>
          <p:nvPr/>
        </p:nvSpPr>
        <p:spPr>
          <a:xfrm>
            <a:off x="502920" y="1920240"/>
            <a:ext cx="3544824" cy="1691640"/>
          </a:xfrm>
          <a:prstGeom prst="roundRect">
            <a:avLst>
              <a:gd name="adj" fmla="val 3243"/>
            </a:avLst>
          </a:prstGeom>
          <a:solidFill>
            <a:srgbClr val="FFFFFF"/>
          </a:solidFill>
          <a:ln/>
        </p:spPr>
      </p:sp>
      <p:pic>
        <p:nvPicPr>
          <p:cNvPr id="10" name="Image 1" descr="assets/site_model.png"/>
          <p:cNvPicPr>
            <a:picLocks noChangeAspect="1"/>
          </p:cNvPicPr>
          <p:nvPr/>
        </p:nvPicPr>
        <p:blipFill>
          <a:blip r:embed="rId4"/>
          <a:srcRect/>
          <a:stretch/>
        </p:blipFill>
        <p:spPr>
          <a:xfrm>
            <a:off x="640080" y="2029968"/>
            <a:ext cx="3270504" cy="1472184"/>
          </a:xfrm>
          <a:prstGeom prst="rect">
            <a:avLst/>
          </a:prstGeom>
        </p:spPr>
      </p:pic>
      <p:sp>
        <p:nvSpPr>
          <p:cNvPr id="11" name="Shape 7"/>
          <p:cNvSpPr/>
          <p:nvPr/>
        </p:nvSpPr>
        <p:spPr>
          <a:xfrm>
            <a:off x="612648" y="3298914"/>
            <a:ext cx="754380" cy="246888"/>
          </a:xfrm>
          <a:prstGeom prst="roundRect">
            <a:avLst>
              <a:gd name="adj" fmla="val 18519"/>
            </a:avLst>
          </a:prstGeom>
          <a:solidFill>
            <a:srgbClr val="0A0A0A">
              <a:alpha val="90000"/>
            </a:srgbClr>
          </a:solidFill>
          <a:ln w="12700">
            <a:solidFill>
              <a:srgbClr val="C8102E"/>
            </a:solidFill>
            <a:prstDash val="solid"/>
          </a:ln>
        </p:spPr>
      </p:sp>
      <p:sp>
        <p:nvSpPr>
          <p:cNvPr id="12" name="Text 8"/>
          <p:cNvSpPr/>
          <p:nvPr/>
        </p:nvSpPr>
        <p:spPr>
          <a:xfrm>
            <a:off x="612648" y="3298914"/>
            <a:ext cx="754380" cy="246888"/>
          </a:xfrm>
          <a:prstGeom prst="rect">
            <a:avLst/>
          </a:prstGeom>
          <a:noFill/>
          <a:ln/>
        </p:spPr>
        <p:txBody>
          <a:bodyPr wrap="square" lIns="0" tIns="0" rIns="0" bIns="0" rtlCol="0" anchor="ctr"/>
          <a:lstStyle/>
          <a:p>
            <a:pPr marL="0" indent="0" algn="ctr">
              <a:buNone/>
            </a:pPr>
            <a:r>
              <a:rPr lang="en-US" sz="800" b="1" dirty="0">
                <a:solidFill>
                  <a:srgbClr val="00B050"/>
                </a:solidFill>
                <a:latin typeface="Calibri" pitchFamily="34" charset="0"/>
                <a:ea typeface="Calibri" pitchFamily="34" charset="-122"/>
                <a:cs typeface="Calibri" pitchFamily="34" charset="-120"/>
              </a:rPr>
              <a:t>PHASE 1</a:t>
            </a:r>
            <a:endParaRPr lang="en-US" sz="800" dirty="0">
              <a:solidFill>
                <a:srgbClr val="00B050"/>
              </a:solidFill>
            </a:endParaRPr>
          </a:p>
        </p:txBody>
      </p:sp>
      <p:sp>
        <p:nvSpPr>
          <p:cNvPr id="13" name="Text 9"/>
          <p:cNvSpPr/>
          <p:nvPr/>
        </p:nvSpPr>
        <p:spPr>
          <a:xfrm>
            <a:off x="502920" y="3739896"/>
            <a:ext cx="3544824" cy="201168"/>
          </a:xfrm>
          <a:prstGeom prst="rect">
            <a:avLst/>
          </a:prstGeom>
          <a:noFill/>
          <a:ln/>
        </p:spPr>
        <p:txBody>
          <a:bodyPr wrap="square" lIns="0" tIns="0" rIns="0" bIns="0" rtlCol="0" anchor="ctr"/>
          <a:lstStyle/>
          <a:p>
            <a:pPr marL="0" indent="0">
              <a:buNone/>
            </a:pPr>
            <a:r>
              <a:rPr lang="en-US" sz="950" kern="0" spc="1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ACT I</a:t>
            </a:r>
            <a:endParaRPr lang="en-US" sz="9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14" name="Text 10"/>
          <p:cNvSpPr/>
          <p:nvPr/>
        </p:nvSpPr>
        <p:spPr>
          <a:xfrm>
            <a:off x="502920" y="3959352"/>
            <a:ext cx="3544824" cy="292608"/>
          </a:xfrm>
          <a:prstGeom prst="rect">
            <a:avLst/>
          </a:prstGeom>
          <a:noFill/>
          <a:ln/>
        </p:spPr>
        <p:txBody>
          <a:bodyPr wrap="square" lIns="0" tIns="0" rIns="0" bIns="0" rtlCol="0" anchor="ctr"/>
          <a:lstStyle/>
          <a:p>
            <a:pPr marL="0" indent="0">
              <a:buNone/>
            </a:pPr>
            <a:r>
              <a:rPr lang="en-US" sz="1350" dirty="0">
                <a:solidFill>
                  <a:srgbClr val="FFFFFF"/>
                </a:solidFill>
                <a:latin typeface="ADNOC Sans XBold" panose="020B0804020202020204" pitchFamily="34" charset="-78"/>
                <a:ea typeface="Cambria" pitchFamily="34" charset="-122"/>
                <a:cs typeface="ADNOC Sans XBold" panose="020B0804020202020204" pitchFamily="34" charset="-78"/>
              </a:rPr>
              <a:t>Site to Structure</a:t>
            </a:r>
            <a:endParaRPr lang="en-US" sz="1350" dirty="0">
              <a:latin typeface="ADNOC Sans XBold" panose="020B0804020202020204" pitchFamily="34" charset="-78"/>
              <a:cs typeface="ADNOC Sans XBold" panose="020B0804020202020204" pitchFamily="34" charset="-78"/>
            </a:endParaRPr>
          </a:p>
        </p:txBody>
      </p:sp>
      <p:sp>
        <p:nvSpPr>
          <p:cNvPr id="15" name="Text 11"/>
          <p:cNvSpPr/>
          <p:nvPr/>
        </p:nvSpPr>
        <p:spPr>
          <a:xfrm>
            <a:off x="502920" y="4270248"/>
            <a:ext cx="3407664" cy="502920"/>
          </a:xfrm>
          <a:prstGeom prst="rect">
            <a:avLst/>
          </a:prstGeom>
          <a:noFill/>
          <a:ln/>
        </p:spPr>
        <p:txBody>
          <a:bodyPr wrap="square" lIns="0" tIns="0" rIns="0" bIns="0" rtlCol="0" anchor="t"/>
          <a:lstStyle/>
          <a:p>
            <a:pPr marL="0" indent="0">
              <a:lnSpc>
                <a:spcPts val="1150"/>
              </a:lnSpc>
              <a:buNone/>
            </a:pPr>
            <a:r>
              <a:rPr lang="en-US" sz="10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Labelled site model resolves into shell &amp; core — C1-C3, FOH.</a:t>
            </a:r>
            <a:endParaRPr lang="en-US" sz="1050" dirty="0">
              <a:latin typeface="ADNOC Sans Light" panose="020B0404020202020204" pitchFamily="34" charset="0"/>
              <a:ea typeface="ADNOC Sans Light" panose="020B0404020202020204" pitchFamily="34" charset="0"/>
              <a:cs typeface="ADNOC Sans Light" panose="020B0404020202020204" pitchFamily="34" charset="0"/>
            </a:endParaRPr>
          </a:p>
        </p:txBody>
      </p:sp>
      <p:pic>
        <p:nvPicPr>
          <p:cNvPr id="16" name="Image 2" descr="assets/site_plan_small.jpg"/>
          <p:cNvPicPr>
            <a:picLocks noChangeAspect="1"/>
          </p:cNvPicPr>
          <p:nvPr/>
        </p:nvPicPr>
        <p:blipFill>
          <a:blip r:embed="rId5"/>
          <a:srcRect/>
          <a:stretch/>
        </p:blipFill>
        <p:spPr>
          <a:xfrm>
            <a:off x="4322064" y="1920240"/>
            <a:ext cx="3544824" cy="1691640"/>
          </a:xfrm>
          <a:prstGeom prst="rect">
            <a:avLst/>
          </a:prstGeom>
        </p:spPr>
      </p:pic>
      <p:sp>
        <p:nvSpPr>
          <p:cNvPr id="17" name="Shape 12"/>
          <p:cNvSpPr/>
          <p:nvPr/>
        </p:nvSpPr>
        <p:spPr>
          <a:xfrm>
            <a:off x="4431792" y="3298914"/>
            <a:ext cx="891540" cy="246888"/>
          </a:xfrm>
          <a:prstGeom prst="roundRect">
            <a:avLst>
              <a:gd name="adj" fmla="val 18519"/>
            </a:avLst>
          </a:prstGeom>
          <a:solidFill>
            <a:srgbClr val="0A0A0A">
              <a:alpha val="90000"/>
            </a:srgbClr>
          </a:solidFill>
          <a:ln w="12700">
            <a:solidFill>
              <a:srgbClr val="C8102E"/>
            </a:solidFill>
            <a:prstDash val="solid"/>
          </a:ln>
        </p:spPr>
      </p:sp>
      <p:sp>
        <p:nvSpPr>
          <p:cNvPr id="18" name="Text 13"/>
          <p:cNvSpPr/>
          <p:nvPr/>
        </p:nvSpPr>
        <p:spPr>
          <a:xfrm>
            <a:off x="4431792" y="3298914"/>
            <a:ext cx="891540" cy="246888"/>
          </a:xfrm>
          <a:prstGeom prst="rect">
            <a:avLst/>
          </a:prstGeom>
          <a:noFill/>
          <a:ln/>
        </p:spPr>
        <p:txBody>
          <a:bodyPr wrap="square" lIns="0" tIns="0" rIns="0" bIns="0" rtlCol="0" anchor="ctr"/>
          <a:lstStyle/>
          <a:p>
            <a:pPr marL="0" indent="0" algn="ctr">
              <a:buNone/>
            </a:pPr>
            <a:r>
              <a:rPr lang="en-US" sz="800" b="1" dirty="0">
                <a:solidFill>
                  <a:srgbClr val="00B050"/>
                </a:solidFill>
                <a:latin typeface="Calibri" pitchFamily="34" charset="0"/>
                <a:ea typeface="Calibri" pitchFamily="34" charset="-122"/>
                <a:cs typeface="Calibri" pitchFamily="34" charset="-120"/>
              </a:rPr>
              <a:t>PHASE 2-3</a:t>
            </a:r>
            <a:endParaRPr lang="en-US" sz="800" dirty="0">
              <a:solidFill>
                <a:srgbClr val="00B050"/>
              </a:solidFill>
            </a:endParaRPr>
          </a:p>
        </p:txBody>
      </p:sp>
      <p:sp>
        <p:nvSpPr>
          <p:cNvPr id="19" name="Text 14"/>
          <p:cNvSpPr/>
          <p:nvPr/>
        </p:nvSpPr>
        <p:spPr>
          <a:xfrm>
            <a:off x="4322064" y="3739896"/>
            <a:ext cx="3544824" cy="201168"/>
          </a:xfrm>
          <a:prstGeom prst="rect">
            <a:avLst/>
          </a:prstGeom>
          <a:noFill/>
          <a:ln/>
        </p:spPr>
        <p:txBody>
          <a:bodyPr wrap="square" lIns="0" tIns="0" rIns="0" bIns="0" rtlCol="0" anchor="ctr"/>
          <a:lstStyle/>
          <a:p>
            <a:pPr marL="0" indent="0">
              <a:buNone/>
            </a:pPr>
            <a:r>
              <a:rPr lang="en-US" sz="950" kern="0" spc="1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ACT II</a:t>
            </a:r>
            <a:endParaRPr lang="en-US" sz="9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20" name="Text 15"/>
          <p:cNvSpPr/>
          <p:nvPr/>
        </p:nvSpPr>
        <p:spPr>
          <a:xfrm>
            <a:off x="4322064" y="3959352"/>
            <a:ext cx="3544824" cy="292608"/>
          </a:xfrm>
          <a:prstGeom prst="rect">
            <a:avLst/>
          </a:prstGeom>
          <a:noFill/>
          <a:ln/>
        </p:spPr>
        <p:txBody>
          <a:bodyPr wrap="square" lIns="0" tIns="0" rIns="0" bIns="0" rtlCol="0" anchor="ctr"/>
          <a:lstStyle/>
          <a:p>
            <a:pPr marL="0" indent="0">
              <a:buNone/>
            </a:pPr>
            <a:r>
              <a:rPr lang="en-US" sz="1350" dirty="0">
                <a:solidFill>
                  <a:srgbClr val="FFFFFF"/>
                </a:solidFill>
                <a:latin typeface="ADNOC Sans XBold" panose="020B0804020202020204" pitchFamily="34" charset="-78"/>
                <a:ea typeface="Cambria" pitchFamily="34" charset="-122"/>
                <a:cs typeface="ADNOC Sans XBold" panose="020B0804020202020204" pitchFamily="34" charset="-78"/>
              </a:rPr>
              <a:t>Structure to System</a:t>
            </a:r>
            <a:endParaRPr lang="en-US" sz="1350" dirty="0">
              <a:latin typeface="ADNOC Sans XBold" panose="020B0804020202020204" pitchFamily="34" charset="-78"/>
              <a:cs typeface="ADNOC Sans XBold" panose="020B0804020202020204" pitchFamily="34" charset="-78"/>
            </a:endParaRPr>
          </a:p>
        </p:txBody>
      </p:sp>
      <p:sp>
        <p:nvSpPr>
          <p:cNvPr id="21" name="Text 16"/>
          <p:cNvSpPr/>
          <p:nvPr/>
        </p:nvSpPr>
        <p:spPr>
          <a:xfrm>
            <a:off x="4322064" y="4270248"/>
            <a:ext cx="3068665" cy="502920"/>
          </a:xfrm>
          <a:prstGeom prst="rect">
            <a:avLst/>
          </a:prstGeom>
          <a:noFill/>
          <a:ln/>
        </p:spPr>
        <p:txBody>
          <a:bodyPr wrap="square" lIns="0" tIns="0" rIns="0" bIns="0" rtlCol="0" anchor="t"/>
          <a:lstStyle/>
          <a:p>
            <a:pPr marL="0" indent="0">
              <a:lnSpc>
                <a:spcPts val="1150"/>
              </a:lnSpc>
              <a:buNone/>
            </a:pPr>
            <a:r>
              <a:rPr lang="en-US" sz="10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Resolved masterplan — data hall fit-out tracked building by building.</a:t>
            </a:r>
            <a:endParaRPr lang="en-US" sz="1050" dirty="0">
              <a:latin typeface="ADNOC Sans Light" panose="020B0404020202020204" pitchFamily="34" charset="0"/>
              <a:ea typeface="ADNOC Sans Light" panose="020B0404020202020204" pitchFamily="34" charset="0"/>
              <a:cs typeface="ADNOC Sans Light" panose="020B0404020202020204" pitchFamily="34" charset="0"/>
            </a:endParaRPr>
          </a:p>
        </p:txBody>
      </p:sp>
      <p:pic>
        <p:nvPicPr>
          <p:cNvPr id="22" name="Image 3" descr="assets/render1_small.jpg"/>
          <p:cNvPicPr>
            <a:picLocks noChangeAspect="1"/>
          </p:cNvPicPr>
          <p:nvPr/>
        </p:nvPicPr>
        <p:blipFill>
          <a:blip r:embed="rId6"/>
          <a:srcRect/>
          <a:stretch/>
        </p:blipFill>
        <p:spPr>
          <a:xfrm>
            <a:off x="8141208" y="1920240"/>
            <a:ext cx="3544824" cy="1691640"/>
          </a:xfrm>
          <a:prstGeom prst="rect">
            <a:avLst/>
          </a:prstGeom>
        </p:spPr>
      </p:pic>
      <p:sp>
        <p:nvSpPr>
          <p:cNvPr id="23" name="Shape 17"/>
          <p:cNvSpPr/>
          <p:nvPr/>
        </p:nvSpPr>
        <p:spPr>
          <a:xfrm>
            <a:off x="8250936" y="3298914"/>
            <a:ext cx="1234440" cy="246888"/>
          </a:xfrm>
          <a:prstGeom prst="roundRect">
            <a:avLst>
              <a:gd name="adj" fmla="val 18519"/>
            </a:avLst>
          </a:prstGeom>
          <a:solidFill>
            <a:srgbClr val="0A0A0A">
              <a:alpha val="90000"/>
            </a:srgbClr>
          </a:solidFill>
          <a:ln w="12700">
            <a:solidFill>
              <a:srgbClr val="C8102E"/>
            </a:solidFill>
            <a:prstDash val="solid"/>
          </a:ln>
        </p:spPr>
      </p:sp>
      <p:sp>
        <p:nvSpPr>
          <p:cNvPr id="24" name="Text 18"/>
          <p:cNvSpPr/>
          <p:nvPr/>
        </p:nvSpPr>
        <p:spPr>
          <a:xfrm>
            <a:off x="8250936" y="3298914"/>
            <a:ext cx="1234440" cy="246888"/>
          </a:xfrm>
          <a:prstGeom prst="rect">
            <a:avLst/>
          </a:prstGeom>
          <a:noFill/>
          <a:ln/>
        </p:spPr>
        <p:txBody>
          <a:bodyPr wrap="square" lIns="0" tIns="0" rIns="0" bIns="0" rtlCol="0" anchor="ctr"/>
          <a:lstStyle/>
          <a:p>
            <a:pPr marL="0" indent="0" algn="ctr">
              <a:buNone/>
            </a:pPr>
            <a:r>
              <a:rPr lang="en-US" sz="800" b="1" dirty="0">
                <a:solidFill>
                  <a:srgbClr val="00B050"/>
                </a:solidFill>
                <a:latin typeface="Calibri" pitchFamily="34" charset="0"/>
                <a:ea typeface="Calibri" pitchFamily="34" charset="-122"/>
                <a:cs typeface="Calibri" pitchFamily="34" charset="-120"/>
              </a:rPr>
              <a:t>T&amp;C / HANDOVER</a:t>
            </a:r>
            <a:endParaRPr lang="en-US" sz="800" dirty="0">
              <a:solidFill>
                <a:srgbClr val="00B050"/>
              </a:solidFill>
            </a:endParaRPr>
          </a:p>
        </p:txBody>
      </p:sp>
      <p:sp>
        <p:nvSpPr>
          <p:cNvPr id="25" name="Text 19"/>
          <p:cNvSpPr/>
          <p:nvPr/>
        </p:nvSpPr>
        <p:spPr>
          <a:xfrm>
            <a:off x="8141208" y="3739896"/>
            <a:ext cx="3544824" cy="201168"/>
          </a:xfrm>
          <a:prstGeom prst="rect">
            <a:avLst/>
          </a:prstGeom>
          <a:noFill/>
          <a:ln/>
        </p:spPr>
        <p:txBody>
          <a:bodyPr wrap="square" lIns="0" tIns="0" rIns="0" bIns="0" rtlCol="0" anchor="ctr"/>
          <a:lstStyle/>
          <a:p>
            <a:pPr marL="0" indent="0">
              <a:buNone/>
            </a:pPr>
            <a:r>
              <a:rPr lang="en-US" sz="950" kern="0" spc="1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ACT III</a:t>
            </a:r>
            <a:endParaRPr lang="en-US" sz="9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26" name="Text 20"/>
          <p:cNvSpPr/>
          <p:nvPr/>
        </p:nvSpPr>
        <p:spPr>
          <a:xfrm>
            <a:off x="8141208" y="3959352"/>
            <a:ext cx="3544824" cy="292608"/>
          </a:xfrm>
          <a:prstGeom prst="rect">
            <a:avLst/>
          </a:prstGeom>
          <a:noFill/>
          <a:ln/>
        </p:spPr>
        <p:txBody>
          <a:bodyPr wrap="square" lIns="0" tIns="0" rIns="0" bIns="0" rtlCol="0" anchor="ctr"/>
          <a:lstStyle/>
          <a:p>
            <a:pPr marL="0" indent="0">
              <a:buNone/>
            </a:pPr>
            <a:r>
              <a:rPr lang="en-US" sz="1350" dirty="0">
                <a:solidFill>
                  <a:srgbClr val="FFFFFF"/>
                </a:solidFill>
                <a:latin typeface="ADNOC Sans XBold" panose="020B0804020202020204" pitchFamily="34" charset="-78"/>
                <a:ea typeface="Cambria" pitchFamily="34" charset="-122"/>
                <a:cs typeface="ADNOC Sans XBold" panose="020B0804020202020204" pitchFamily="34" charset="-78"/>
              </a:rPr>
              <a:t>System to Service</a:t>
            </a:r>
            <a:endParaRPr lang="en-US" sz="1350" dirty="0">
              <a:latin typeface="ADNOC Sans XBold" panose="020B0804020202020204" pitchFamily="34" charset="-78"/>
              <a:cs typeface="ADNOC Sans XBold" panose="020B0804020202020204" pitchFamily="34" charset="-78"/>
            </a:endParaRPr>
          </a:p>
        </p:txBody>
      </p:sp>
      <p:sp>
        <p:nvSpPr>
          <p:cNvPr id="27" name="Text 21"/>
          <p:cNvSpPr/>
          <p:nvPr/>
        </p:nvSpPr>
        <p:spPr>
          <a:xfrm>
            <a:off x="8141208" y="4270248"/>
            <a:ext cx="3508248" cy="502920"/>
          </a:xfrm>
          <a:prstGeom prst="rect">
            <a:avLst/>
          </a:prstGeom>
          <a:noFill/>
          <a:ln/>
        </p:spPr>
        <p:txBody>
          <a:bodyPr wrap="square" lIns="0" tIns="0" rIns="0" bIns="0" rtlCol="0" anchor="t"/>
          <a:lstStyle/>
          <a:p>
            <a:pPr marL="0" indent="0">
              <a:buNone/>
            </a:pPr>
            <a:r>
              <a:rPr lang="en-US" sz="10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Completed render — the journey ends Ready-for-Service, not on construction.</a:t>
            </a:r>
            <a:endParaRPr lang="en-US" sz="10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8" name="Text 22"/>
          <p:cNvSpPr/>
          <p:nvPr/>
        </p:nvSpPr>
        <p:spPr>
          <a:xfrm>
            <a:off x="502920" y="5029200"/>
            <a:ext cx="8229600" cy="219456"/>
          </a:xfrm>
          <a:prstGeom prst="rect">
            <a:avLst/>
          </a:prstGeom>
          <a:noFill/>
          <a:ln/>
        </p:spPr>
        <p:txBody>
          <a:bodyPr wrap="square" lIns="0" tIns="0" rIns="0" bIns="0" rtlCol="0" anchor="ctr"/>
          <a:lstStyle/>
          <a:p>
            <a:pPr marL="0" indent="0">
              <a:buNone/>
            </a:pPr>
            <a:r>
              <a:rPr lang="en-US" sz="950" kern="0" spc="100" dirty="0">
                <a:solidFill>
                  <a:srgbClr val="8A8A8A"/>
                </a:solidFill>
                <a:latin typeface="ADNOC Sans XBold" panose="020B0804020202020204" pitchFamily="34" charset="-78"/>
                <a:ea typeface="Calibri" pitchFamily="34" charset="-122"/>
                <a:cs typeface="ADNOC Sans XBold" panose="020B0804020202020204" pitchFamily="34" charset="-78"/>
              </a:rPr>
              <a:t>HOW PROGRAMME DATA IS CARRIED  —  </a:t>
            </a:r>
            <a:r>
              <a:rPr lang="en-US" sz="950" kern="0" spc="100" dirty="0">
                <a:solidFill>
                  <a:srgbClr val="8A8A8A"/>
                </a:solidFill>
                <a:latin typeface="ADNOC Sans Light" panose="020B0404020202020204" pitchFamily="34" charset="0"/>
                <a:ea typeface="ADNOC Sans Light" panose="020B0404020202020204" pitchFamily="34" charset="0"/>
                <a:cs typeface="ADNOC Sans Light" panose="020B0404020202020204" pitchFamily="34" charset="0"/>
              </a:rPr>
              <a:t>78-MONTH DELIVERY BAR</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9" name="Shape 23"/>
          <p:cNvSpPr/>
          <p:nvPr/>
        </p:nvSpPr>
        <p:spPr>
          <a:xfrm>
            <a:off x="502920" y="5340096"/>
            <a:ext cx="11183112" cy="292608"/>
          </a:xfrm>
          <a:prstGeom prst="roundRect">
            <a:avLst>
              <a:gd name="adj" fmla="val 15625"/>
            </a:avLst>
          </a:prstGeom>
          <a:solidFill>
            <a:srgbClr val="161616"/>
          </a:solidFill>
          <a:ln/>
        </p:spPr>
      </p:sp>
      <p:sp>
        <p:nvSpPr>
          <p:cNvPr id="30" name="Shape 24"/>
          <p:cNvSpPr/>
          <p:nvPr/>
        </p:nvSpPr>
        <p:spPr>
          <a:xfrm>
            <a:off x="502920" y="5340096"/>
            <a:ext cx="3765682" cy="292608"/>
          </a:xfrm>
          <a:prstGeom prst="roundRect">
            <a:avLst>
              <a:gd name="adj" fmla="val 15625"/>
            </a:avLst>
          </a:prstGeom>
          <a:solidFill>
            <a:srgbClr val="EE3327"/>
          </a:solidFill>
          <a:ln/>
        </p:spPr>
      </p:sp>
      <p:sp>
        <p:nvSpPr>
          <p:cNvPr id="31" name="Text 25"/>
          <p:cNvSpPr/>
          <p:nvPr/>
        </p:nvSpPr>
        <p:spPr>
          <a:xfrm>
            <a:off x="594360" y="5340096"/>
            <a:ext cx="3619378" cy="292608"/>
          </a:xfrm>
          <a:prstGeom prst="rect">
            <a:avLst/>
          </a:prstGeom>
          <a:noFill/>
          <a:ln/>
        </p:spPr>
        <p:txBody>
          <a:bodyPr wrap="square" lIns="0" tIns="0" rIns="0" bIns="0" rtlCol="0" anchor="ctr"/>
          <a:lstStyle/>
          <a:p>
            <a:pPr marL="0" indent="0">
              <a:buNone/>
            </a:pPr>
            <a:r>
              <a:rPr lang="en-US" sz="800" dirty="0">
                <a:solidFill>
                  <a:srgbClr val="FFFFFF"/>
                </a:solidFill>
                <a:latin typeface="ADNOC Sans XBold" panose="020B0804020202020204" pitchFamily="34" charset="-78"/>
                <a:ea typeface="Calibri" pitchFamily="34" charset="-122"/>
                <a:cs typeface="ADNOC Sans XBold" panose="020B0804020202020204" pitchFamily="34" charset="-78"/>
              </a:rPr>
              <a:t>PHASE 1 — SHELL &amp; CORE C1-C3, FOH</a:t>
            </a:r>
            <a:endParaRPr lang="en-US" sz="800" dirty="0">
              <a:latin typeface="ADNOC Sans XBold" panose="020B0804020202020204" pitchFamily="34" charset="-78"/>
              <a:cs typeface="ADNOC Sans XBold" panose="020B0804020202020204" pitchFamily="34" charset="-78"/>
            </a:endParaRPr>
          </a:p>
        </p:txBody>
      </p:sp>
      <p:sp>
        <p:nvSpPr>
          <p:cNvPr id="32" name="Shape 26"/>
          <p:cNvSpPr/>
          <p:nvPr/>
        </p:nvSpPr>
        <p:spPr>
          <a:xfrm>
            <a:off x="4305178" y="5340096"/>
            <a:ext cx="3653851" cy="292608"/>
          </a:xfrm>
          <a:prstGeom prst="roundRect">
            <a:avLst>
              <a:gd name="adj" fmla="val 15625"/>
            </a:avLst>
          </a:prstGeom>
          <a:solidFill>
            <a:srgbClr val="2E2E2E"/>
          </a:solidFill>
          <a:ln/>
        </p:spPr>
      </p:sp>
      <p:sp>
        <p:nvSpPr>
          <p:cNvPr id="33" name="Text 27"/>
          <p:cNvSpPr/>
          <p:nvPr/>
        </p:nvSpPr>
        <p:spPr>
          <a:xfrm>
            <a:off x="4396618" y="5340096"/>
            <a:ext cx="3507547" cy="292608"/>
          </a:xfrm>
          <a:prstGeom prst="rect">
            <a:avLst/>
          </a:prstGeom>
          <a:noFill/>
          <a:ln/>
        </p:spPr>
        <p:txBody>
          <a:bodyPr wrap="square" lIns="0" tIns="0" rIns="0" bIns="0" rtlCol="0" anchor="ctr"/>
          <a:lstStyle/>
          <a:p>
            <a:pPr marL="0" indent="0">
              <a:buNone/>
            </a:pPr>
            <a:r>
              <a:rPr lang="en-US" sz="800" dirty="0">
                <a:solidFill>
                  <a:srgbClr val="B8B8B8"/>
                </a:solidFill>
                <a:latin typeface="ADNOC Sans XBold" panose="020B0804020202020204" pitchFamily="34" charset="-78"/>
                <a:ea typeface="Calibri" pitchFamily="34" charset="-122"/>
                <a:cs typeface="ADNOC Sans XBold" panose="020B0804020202020204" pitchFamily="34" charset="-78"/>
              </a:rPr>
              <a:t>PHASE 2 — SHELL &amp; CORE C4-C5 + FIT-OUT</a:t>
            </a:r>
            <a:endParaRPr lang="en-US" sz="800" dirty="0">
              <a:latin typeface="ADNOC Sans XBold" panose="020B0804020202020204" pitchFamily="34" charset="-78"/>
              <a:cs typeface="ADNOC Sans XBold" panose="020B0804020202020204" pitchFamily="34" charset="-78"/>
            </a:endParaRPr>
          </a:p>
        </p:txBody>
      </p:sp>
      <p:sp>
        <p:nvSpPr>
          <p:cNvPr id="34" name="Shape 28"/>
          <p:cNvSpPr/>
          <p:nvPr/>
        </p:nvSpPr>
        <p:spPr>
          <a:xfrm>
            <a:off x="7995605" y="5340096"/>
            <a:ext cx="3653851" cy="292608"/>
          </a:xfrm>
          <a:prstGeom prst="roundRect">
            <a:avLst>
              <a:gd name="adj" fmla="val 15625"/>
            </a:avLst>
          </a:prstGeom>
          <a:solidFill>
            <a:srgbClr val="2E2E2E"/>
          </a:solidFill>
          <a:ln/>
        </p:spPr>
      </p:sp>
      <p:sp>
        <p:nvSpPr>
          <p:cNvPr id="35" name="Text 29"/>
          <p:cNvSpPr/>
          <p:nvPr/>
        </p:nvSpPr>
        <p:spPr>
          <a:xfrm>
            <a:off x="8087045" y="5340096"/>
            <a:ext cx="3507547" cy="292608"/>
          </a:xfrm>
          <a:prstGeom prst="rect">
            <a:avLst/>
          </a:prstGeom>
          <a:noFill/>
          <a:ln/>
        </p:spPr>
        <p:txBody>
          <a:bodyPr wrap="square" lIns="0" tIns="0" rIns="0" bIns="0" rtlCol="0" anchor="ctr"/>
          <a:lstStyle/>
          <a:p>
            <a:pPr marL="0" indent="0">
              <a:buNone/>
            </a:pPr>
            <a:r>
              <a:rPr lang="en-US" sz="800" dirty="0">
                <a:solidFill>
                  <a:srgbClr val="B8B8B8"/>
                </a:solidFill>
                <a:latin typeface="ADNOC Sans XBold" panose="020B0804020202020204" pitchFamily="34" charset="-78"/>
                <a:ea typeface="Calibri" pitchFamily="34" charset="-122"/>
                <a:cs typeface="ADNOC Sans XBold" panose="020B0804020202020204" pitchFamily="34" charset="-78"/>
              </a:rPr>
              <a:t>PHASE 3 — FIT-OUT C3-C5 + T&amp;C</a:t>
            </a:r>
            <a:endParaRPr lang="en-US" sz="800" dirty="0">
              <a:latin typeface="ADNOC Sans XBold" panose="020B0804020202020204" pitchFamily="34" charset="-78"/>
              <a:cs typeface="ADNOC Sans XBold" panose="020B0804020202020204" pitchFamily="34" charset="-78"/>
            </a:endParaRPr>
          </a:p>
        </p:txBody>
      </p:sp>
      <p:sp>
        <p:nvSpPr>
          <p:cNvPr id="36" name="Shape 30"/>
          <p:cNvSpPr/>
          <p:nvPr/>
        </p:nvSpPr>
        <p:spPr>
          <a:xfrm>
            <a:off x="1575511" y="5687568"/>
            <a:ext cx="91440" cy="91440"/>
          </a:xfrm>
          <a:prstGeom prst="ellipse">
            <a:avLst/>
          </a:prstGeom>
          <a:solidFill>
            <a:srgbClr val="C8102E"/>
          </a:solidFill>
          <a:ln w="9525">
            <a:solidFill>
              <a:srgbClr val="FFFFFF"/>
            </a:solidFill>
            <a:prstDash val="solid"/>
          </a:ln>
        </p:spPr>
      </p:sp>
      <p:sp>
        <p:nvSpPr>
          <p:cNvPr id="37" name="Text 31"/>
          <p:cNvSpPr/>
          <p:nvPr/>
        </p:nvSpPr>
        <p:spPr>
          <a:xfrm>
            <a:off x="981151" y="5815584"/>
            <a:ext cx="1280160" cy="201168"/>
          </a:xfrm>
          <a:prstGeom prst="rect">
            <a:avLst/>
          </a:prstGeom>
          <a:noFill/>
          <a:ln/>
        </p:spPr>
        <p:txBody>
          <a:bodyPr wrap="square" lIns="0" tIns="0" rIns="0" bIns="0" rtlCol="0" anchor="ctr"/>
          <a:lstStyle/>
          <a:p>
            <a:pPr marL="0" indent="0" algn="ctr">
              <a:buNone/>
            </a:pPr>
            <a:r>
              <a:rPr lang="en-US" sz="750" b="1" dirty="0">
                <a:solidFill>
                  <a:srgbClr val="8A8A8A"/>
                </a:solidFill>
                <a:latin typeface="Calibri" pitchFamily="34" charset="0"/>
                <a:ea typeface="Calibri" pitchFamily="34" charset="-122"/>
                <a:cs typeface="Calibri" pitchFamily="34" charset="-120"/>
              </a:rPr>
              <a:t>GC MOBILISED</a:t>
            </a:r>
            <a:endParaRPr lang="en-US" sz="750" dirty="0"/>
          </a:p>
        </p:txBody>
      </p:sp>
      <p:sp>
        <p:nvSpPr>
          <p:cNvPr id="38" name="Shape 32"/>
          <p:cNvSpPr/>
          <p:nvPr/>
        </p:nvSpPr>
        <p:spPr>
          <a:xfrm>
            <a:off x="4035796" y="5687568"/>
            <a:ext cx="91440" cy="91440"/>
          </a:xfrm>
          <a:prstGeom prst="ellipse">
            <a:avLst/>
          </a:prstGeom>
          <a:solidFill>
            <a:srgbClr val="C8102E"/>
          </a:solidFill>
          <a:ln w="9525">
            <a:solidFill>
              <a:srgbClr val="FFFFFF"/>
            </a:solidFill>
            <a:prstDash val="solid"/>
          </a:ln>
        </p:spPr>
      </p:sp>
      <p:sp>
        <p:nvSpPr>
          <p:cNvPr id="39" name="Text 33"/>
          <p:cNvSpPr/>
          <p:nvPr/>
        </p:nvSpPr>
        <p:spPr>
          <a:xfrm>
            <a:off x="3441436" y="5815584"/>
            <a:ext cx="1280160" cy="201168"/>
          </a:xfrm>
          <a:prstGeom prst="rect">
            <a:avLst/>
          </a:prstGeom>
          <a:noFill/>
          <a:ln/>
        </p:spPr>
        <p:txBody>
          <a:bodyPr wrap="square" lIns="0" tIns="0" rIns="0" bIns="0" rtlCol="0" anchor="ctr"/>
          <a:lstStyle/>
          <a:p>
            <a:pPr marL="0" indent="0" algn="ctr">
              <a:buNone/>
            </a:pPr>
            <a:r>
              <a:rPr lang="en-US" sz="750" b="1" dirty="0">
                <a:solidFill>
                  <a:srgbClr val="8A8A8A"/>
                </a:solidFill>
                <a:latin typeface="Calibri" pitchFamily="34" charset="0"/>
                <a:ea typeface="Calibri" pitchFamily="34" charset="-122"/>
                <a:cs typeface="Calibri" pitchFamily="34" charset="-120"/>
              </a:rPr>
              <a:t>POWER ON</a:t>
            </a:r>
            <a:endParaRPr lang="en-US" sz="750" dirty="0"/>
          </a:p>
        </p:txBody>
      </p:sp>
      <p:sp>
        <p:nvSpPr>
          <p:cNvPr id="40" name="Shape 34"/>
          <p:cNvSpPr/>
          <p:nvPr/>
        </p:nvSpPr>
        <p:spPr>
          <a:xfrm>
            <a:off x="7390729" y="5687568"/>
            <a:ext cx="91440" cy="91440"/>
          </a:xfrm>
          <a:prstGeom prst="ellipse">
            <a:avLst/>
          </a:prstGeom>
          <a:solidFill>
            <a:srgbClr val="C8102E"/>
          </a:solidFill>
          <a:ln w="9525">
            <a:solidFill>
              <a:srgbClr val="FFFFFF"/>
            </a:solidFill>
            <a:prstDash val="solid"/>
          </a:ln>
        </p:spPr>
      </p:sp>
      <p:sp>
        <p:nvSpPr>
          <p:cNvPr id="41" name="Text 35"/>
          <p:cNvSpPr/>
          <p:nvPr/>
        </p:nvSpPr>
        <p:spPr>
          <a:xfrm>
            <a:off x="6796369" y="5815584"/>
            <a:ext cx="1280160" cy="201168"/>
          </a:xfrm>
          <a:prstGeom prst="rect">
            <a:avLst/>
          </a:prstGeom>
          <a:noFill/>
          <a:ln/>
        </p:spPr>
        <p:txBody>
          <a:bodyPr wrap="square" lIns="0" tIns="0" rIns="0" bIns="0" rtlCol="0" anchor="ctr"/>
          <a:lstStyle/>
          <a:p>
            <a:pPr marL="0" indent="0" algn="ctr">
              <a:buNone/>
            </a:pPr>
            <a:r>
              <a:rPr lang="en-US" sz="750" b="1" dirty="0">
                <a:solidFill>
                  <a:srgbClr val="8A8A8A"/>
                </a:solidFill>
                <a:latin typeface="Calibri" pitchFamily="34" charset="0"/>
                <a:ea typeface="Calibri" pitchFamily="34" charset="-122"/>
                <a:cs typeface="Calibri" pitchFamily="34" charset="-120"/>
              </a:rPr>
              <a:t>C1/C2 RFS</a:t>
            </a:r>
            <a:endParaRPr lang="en-US" sz="750" dirty="0"/>
          </a:p>
        </p:txBody>
      </p:sp>
      <p:sp>
        <p:nvSpPr>
          <p:cNvPr id="42" name="Shape 36"/>
          <p:cNvSpPr/>
          <p:nvPr/>
        </p:nvSpPr>
        <p:spPr>
          <a:xfrm>
            <a:off x="10298339" y="5687568"/>
            <a:ext cx="91440" cy="91440"/>
          </a:xfrm>
          <a:prstGeom prst="ellipse">
            <a:avLst/>
          </a:prstGeom>
          <a:solidFill>
            <a:srgbClr val="C8102E"/>
          </a:solidFill>
          <a:ln w="9525">
            <a:solidFill>
              <a:srgbClr val="FFFFFF"/>
            </a:solidFill>
            <a:prstDash val="solid"/>
          </a:ln>
        </p:spPr>
      </p:sp>
      <p:sp>
        <p:nvSpPr>
          <p:cNvPr id="43" name="Text 37"/>
          <p:cNvSpPr/>
          <p:nvPr/>
        </p:nvSpPr>
        <p:spPr>
          <a:xfrm>
            <a:off x="9703979" y="5815584"/>
            <a:ext cx="1280160" cy="201168"/>
          </a:xfrm>
          <a:prstGeom prst="rect">
            <a:avLst/>
          </a:prstGeom>
          <a:noFill/>
          <a:ln/>
        </p:spPr>
        <p:txBody>
          <a:bodyPr wrap="square" lIns="0" tIns="0" rIns="0" bIns="0" rtlCol="0" anchor="ctr"/>
          <a:lstStyle/>
          <a:p>
            <a:pPr marL="0" indent="0" algn="ctr">
              <a:buNone/>
            </a:pPr>
            <a:r>
              <a:rPr lang="en-US" sz="750" b="1" dirty="0">
                <a:solidFill>
                  <a:srgbClr val="8A8A8A"/>
                </a:solidFill>
                <a:latin typeface="Calibri" pitchFamily="34" charset="0"/>
                <a:ea typeface="Calibri" pitchFamily="34" charset="-122"/>
                <a:cs typeface="Calibri" pitchFamily="34" charset="-120"/>
              </a:rPr>
              <a:t>T&amp;C &amp; HANDOVER</a:t>
            </a:r>
            <a:endParaRPr lang="en-US" sz="750" dirty="0"/>
          </a:p>
        </p:txBody>
      </p:sp>
      <p:sp>
        <p:nvSpPr>
          <p:cNvPr id="44" name="Text 38"/>
          <p:cNvSpPr/>
          <p:nvPr/>
        </p:nvSpPr>
        <p:spPr>
          <a:xfrm>
            <a:off x="502920" y="6099048"/>
            <a:ext cx="11155680" cy="274320"/>
          </a:xfrm>
          <a:prstGeom prst="rect">
            <a:avLst/>
          </a:prstGeom>
          <a:noFill/>
          <a:ln/>
        </p:spPr>
        <p:txBody>
          <a:bodyPr wrap="square" lIns="0" tIns="0" rIns="0" bIns="0" rtlCol="0" anchor="ctr"/>
          <a:lstStyle/>
          <a:p>
            <a:pPr marL="0" indent="0">
              <a:buNone/>
            </a:pPr>
            <a:r>
              <a:rPr lang="en-US" sz="900" i="1" dirty="0">
                <a:solidFill>
                  <a:srgbClr val="8A8A8A"/>
                </a:solidFill>
                <a:latin typeface="ADNOC Sans Light" panose="020B0404020202020204" pitchFamily="34" charset="0"/>
                <a:ea typeface="ADNOC Sans Light" panose="020B0404020202020204" pitchFamily="34" charset="0"/>
                <a:cs typeface="ADNOC Sans Light" panose="020B0404020202020204" pitchFamily="34" charset="0"/>
              </a:rPr>
              <a:t>Transitions match-cut on shared geometry — the site outline in Act I becomes the shell footprint in Act II, the footprint becomes the finished form in Act III.</a:t>
            </a:r>
            <a:endParaRPr lang="en-US" sz="900" i="1" dirty="0">
              <a:latin typeface="ADNOC Sans Light" panose="020B0404020202020204" pitchFamily="34" charset="0"/>
              <a:ea typeface="ADNOC Sans Light" panose="020B0404020202020204" pitchFamily="34" charset="0"/>
              <a:cs typeface="ADNOC Sans Light" panose="020B04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4DD0D4CE-DFAB-7177-3968-D70DCF5840CD}"/>
            </a:ext>
          </a:extLst>
        </p:cNvPr>
        <p:cNvGrpSpPr/>
        <p:nvPr/>
      </p:nvGrpSpPr>
      <p:grpSpPr>
        <a:xfrm>
          <a:off x="0" y="0"/>
          <a:ext cx="0" cy="0"/>
          <a:chOff x="0" y="0"/>
          <a:chExt cx="0" cy="0"/>
        </a:xfrm>
      </p:grpSpPr>
      <p:pic>
        <p:nvPicPr>
          <p:cNvPr id="2" name="Image 0" descr="assets/wsp_logo.png">
            <a:extLst>
              <a:ext uri="{FF2B5EF4-FFF2-40B4-BE49-F238E27FC236}">
                <a16:creationId xmlns:a16="http://schemas.microsoft.com/office/drawing/2014/main" id="{C249A47E-4966-77E4-B150-531DB83332BF}"/>
              </a:ext>
            </a:extLst>
          </p:cNvPr>
          <p:cNvPicPr>
            <a:picLocks noChangeAspect="1"/>
          </p:cNvPicPr>
          <p:nvPr/>
        </p:nvPicPr>
        <p:blipFill>
          <a:blip r:embed="rId3"/>
          <a:stretch>
            <a:fillRect/>
          </a:stretch>
        </p:blipFill>
        <p:spPr>
          <a:xfrm>
            <a:off x="10771632" y="365760"/>
            <a:ext cx="960120" cy="460858"/>
          </a:xfrm>
          <a:prstGeom prst="rect">
            <a:avLst/>
          </a:prstGeom>
        </p:spPr>
      </p:pic>
      <p:sp>
        <p:nvSpPr>
          <p:cNvPr id="3" name="Text 0">
            <a:extLst>
              <a:ext uri="{FF2B5EF4-FFF2-40B4-BE49-F238E27FC236}">
                <a16:creationId xmlns:a16="http://schemas.microsoft.com/office/drawing/2014/main" id="{92E8C7D1-288E-0978-0D8B-C7328A8F0FC8}"/>
              </a:ext>
            </a:extLst>
          </p:cNvPr>
          <p:cNvSpPr/>
          <p:nvPr/>
        </p:nvSpPr>
        <p:spPr>
          <a:xfrm>
            <a:off x="502920" y="365760"/>
            <a:ext cx="8229600" cy="274320"/>
          </a:xfrm>
          <a:prstGeom prst="rect">
            <a:avLst/>
          </a:prstGeom>
          <a:noFill/>
          <a:ln/>
        </p:spPr>
        <p:txBody>
          <a:bodyPr wrap="square" lIns="0" tIns="0" rIns="0" bIns="0" rtlCol="0" anchor="ctr"/>
          <a:lstStyle/>
          <a:p>
            <a:pPr marL="0" indent="0">
              <a:buNone/>
            </a:pPr>
            <a:r>
              <a:rPr lang="en-US" sz="1100" kern="0" spc="3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01 — VISUAL NARRATIVE &amp; SEQUENCING</a:t>
            </a:r>
            <a:endParaRPr lang="en-US" sz="11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4" name="Text 1">
            <a:extLst>
              <a:ext uri="{FF2B5EF4-FFF2-40B4-BE49-F238E27FC236}">
                <a16:creationId xmlns:a16="http://schemas.microsoft.com/office/drawing/2014/main" id="{E0620717-42A7-443E-19B0-732D97D2E258}"/>
              </a:ext>
            </a:extLst>
          </p:cNvPr>
          <p:cNvSpPr/>
          <p:nvPr/>
        </p:nvSpPr>
        <p:spPr>
          <a:xfrm>
            <a:off x="502920" y="621792"/>
            <a:ext cx="9966960" cy="502920"/>
          </a:xfrm>
          <a:prstGeom prst="rect">
            <a:avLst/>
          </a:prstGeom>
          <a:noFill/>
          <a:ln/>
        </p:spPr>
        <p:txBody>
          <a:bodyPr wrap="square" lIns="0" tIns="0" rIns="0" bIns="0" rtlCol="0" anchor="ctr"/>
          <a:lstStyle/>
          <a:p>
            <a:pPr marL="0" indent="0">
              <a:buNone/>
            </a:pPr>
            <a:r>
              <a:rPr lang="en-US" sz="2300" dirty="0">
                <a:solidFill>
                  <a:srgbClr val="FFFFFF"/>
                </a:solidFill>
                <a:latin typeface="ADNOC Sans XBold" panose="020B0804020202020204" pitchFamily="34" charset="-78"/>
                <a:ea typeface="Cambria" pitchFamily="34" charset="-122"/>
                <a:cs typeface="ADNOC Sans XBold" panose="020B0804020202020204" pitchFamily="34" charset="-78"/>
              </a:rPr>
              <a:t>A 60-Second Executive Journey: </a:t>
            </a:r>
            <a:r>
              <a:rPr lang="en-US" sz="2300" dirty="0">
                <a:solidFill>
                  <a:srgbClr val="EE3327"/>
                </a:solidFill>
                <a:latin typeface="ADNOC Sans XBold" panose="020B0804020202020204" pitchFamily="34" charset="-78"/>
                <a:ea typeface="Cambria" pitchFamily="34" charset="-122"/>
                <a:cs typeface="ADNOC Sans XBold" panose="020B0804020202020204" pitchFamily="34" charset="-78"/>
              </a:rPr>
              <a:t>Vision to Operations</a:t>
            </a:r>
            <a:endParaRPr lang="en-US" sz="2300" dirty="0">
              <a:solidFill>
                <a:srgbClr val="EE3327"/>
              </a:solidFill>
              <a:latin typeface="ADNOC Sans XBold" panose="020B0804020202020204" pitchFamily="34" charset="-78"/>
              <a:cs typeface="ADNOC Sans XBold" panose="020B0804020202020204" pitchFamily="34" charset="-78"/>
            </a:endParaRPr>
          </a:p>
        </p:txBody>
      </p:sp>
      <p:pic>
        <p:nvPicPr>
          <p:cNvPr id="10" name="Image 1" descr="assets/site_model.png">
            <a:extLst>
              <a:ext uri="{FF2B5EF4-FFF2-40B4-BE49-F238E27FC236}">
                <a16:creationId xmlns:a16="http://schemas.microsoft.com/office/drawing/2014/main" id="{0158A04B-B550-FB83-CB97-ECB18DD378C9}"/>
              </a:ext>
            </a:extLst>
          </p:cNvPr>
          <p:cNvPicPr>
            <a:picLocks noChangeAspect="1"/>
          </p:cNvPicPr>
          <p:nvPr/>
        </p:nvPicPr>
        <p:blipFill>
          <a:blip r:embed="rId4"/>
          <a:srcRect/>
          <a:stretch/>
        </p:blipFill>
        <p:spPr>
          <a:xfrm>
            <a:off x="502920" y="1285335"/>
            <a:ext cx="3232318" cy="1454995"/>
          </a:xfrm>
          <a:prstGeom prst="rect">
            <a:avLst/>
          </a:prstGeom>
          <a:ln>
            <a:solidFill>
              <a:srgbClr val="EE3327"/>
            </a:solidFill>
          </a:ln>
        </p:spPr>
      </p:pic>
      <p:pic>
        <p:nvPicPr>
          <p:cNvPr id="55" name="Picture 54">
            <a:extLst>
              <a:ext uri="{FF2B5EF4-FFF2-40B4-BE49-F238E27FC236}">
                <a16:creationId xmlns:a16="http://schemas.microsoft.com/office/drawing/2014/main" id="{9DF256FE-BA43-42CA-3965-36A50DFC3CE0}"/>
              </a:ext>
            </a:extLst>
          </p:cNvPr>
          <p:cNvPicPr>
            <a:picLocks noChangeAspect="1"/>
          </p:cNvPicPr>
          <p:nvPr/>
        </p:nvPicPr>
        <p:blipFill>
          <a:blip r:embed="rId5"/>
          <a:stretch>
            <a:fillRect/>
          </a:stretch>
        </p:blipFill>
        <p:spPr>
          <a:xfrm>
            <a:off x="6727637" y="1546171"/>
            <a:ext cx="4193405" cy="2339133"/>
          </a:xfrm>
          <a:prstGeom prst="rect">
            <a:avLst/>
          </a:prstGeom>
          <a:ln>
            <a:solidFill>
              <a:srgbClr val="00B050"/>
            </a:solidFill>
          </a:ln>
        </p:spPr>
      </p:pic>
      <p:pic>
        <p:nvPicPr>
          <p:cNvPr id="57" name="Picture 56">
            <a:extLst>
              <a:ext uri="{FF2B5EF4-FFF2-40B4-BE49-F238E27FC236}">
                <a16:creationId xmlns:a16="http://schemas.microsoft.com/office/drawing/2014/main" id="{5F289F5E-67BA-2301-EE16-2D5CCF3FB3CE}"/>
              </a:ext>
            </a:extLst>
          </p:cNvPr>
          <p:cNvPicPr>
            <a:picLocks noChangeAspect="1"/>
          </p:cNvPicPr>
          <p:nvPr/>
        </p:nvPicPr>
        <p:blipFill>
          <a:blip r:embed="rId6"/>
          <a:stretch>
            <a:fillRect/>
          </a:stretch>
        </p:blipFill>
        <p:spPr>
          <a:xfrm>
            <a:off x="502920" y="2985076"/>
            <a:ext cx="6046104" cy="3372592"/>
          </a:xfrm>
          <a:prstGeom prst="rect">
            <a:avLst/>
          </a:prstGeom>
          <a:ln>
            <a:solidFill>
              <a:srgbClr val="00B050"/>
            </a:solidFill>
          </a:ln>
        </p:spPr>
      </p:pic>
      <p:pic>
        <p:nvPicPr>
          <p:cNvPr id="59" name="Picture 58" descr="Using this isometric site diagram as reference, transform it into a photorealistic 3D architectural visualization while preserving the exact same camera angle, building layout, and proportions (C1-C5, FOH, PSS-A). Replace the flat CAD shading with realistic materials — textured concrete facades, glass elements, real asphalt, mature landscaping in place of the flat green shapes. Soft natural daylight, subtle shadows, professional real-estate visualization quality, 8k, ultra-detailed --ar 16:9">
            <a:extLst>
              <a:ext uri="{FF2B5EF4-FFF2-40B4-BE49-F238E27FC236}">
                <a16:creationId xmlns:a16="http://schemas.microsoft.com/office/drawing/2014/main" id="{0714EF4B-47FE-CB94-F2EE-86AF634E8928}"/>
              </a:ext>
            </a:extLst>
          </p:cNvPr>
          <p:cNvPicPr>
            <a:picLocks noChangeAspect="1"/>
          </p:cNvPicPr>
          <p:nvPr/>
        </p:nvPicPr>
        <p:blipFill>
          <a:blip r:embed="rId7"/>
          <a:stretch>
            <a:fillRect/>
          </a:stretch>
        </p:blipFill>
        <p:spPr>
          <a:xfrm>
            <a:off x="6727637" y="4002973"/>
            <a:ext cx="4193405" cy="2354695"/>
          </a:xfrm>
          <a:prstGeom prst="rect">
            <a:avLst/>
          </a:prstGeom>
          <a:ln>
            <a:solidFill>
              <a:srgbClr val="00B050"/>
            </a:solidFill>
          </a:ln>
        </p:spPr>
      </p:pic>
    </p:spTree>
    <p:extLst>
      <p:ext uri="{BB962C8B-B14F-4D97-AF65-F5344CB8AC3E}">
        <p14:creationId xmlns:p14="http://schemas.microsoft.com/office/powerpoint/2010/main" val="46859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48401CBD-E951-E912-226E-DE89BEB1322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A014D1FF-7B97-D7BA-01E5-358573328B66}"/>
              </a:ext>
            </a:extLst>
          </p:cNvPr>
          <p:cNvPicPr>
            <a:picLocks noChangeAspect="1"/>
          </p:cNvPicPr>
          <p:nvPr/>
        </p:nvPicPr>
        <p:blipFill>
          <a:blip r:embed="rId3"/>
          <a:stretch>
            <a:fillRect/>
          </a:stretch>
        </p:blipFill>
        <p:spPr>
          <a:xfrm>
            <a:off x="6727636" y="1546171"/>
            <a:ext cx="4193405" cy="2339133"/>
          </a:xfrm>
          <a:prstGeom prst="rect">
            <a:avLst/>
          </a:prstGeom>
          <a:ln>
            <a:solidFill>
              <a:srgbClr val="00B050"/>
            </a:solidFill>
          </a:ln>
        </p:spPr>
      </p:pic>
      <p:pic>
        <p:nvPicPr>
          <p:cNvPr id="12" name="Picture 11" descr="Using this top-down rendered site plan as reference, enhance it into a premium aerial architectural visualization while keeping the exact same layout, building footprints, and landscaping positions. Increase material realism — sharper rooftop detailing, realistic solar panel textures, richer landscaping with visible tree canopies and shadow depth, refined road and paving materials, subtle atmospheric perspective. Bright clear daylight, crisp professional presentation quality, 8k --ar 16:9">
            <a:extLst>
              <a:ext uri="{FF2B5EF4-FFF2-40B4-BE49-F238E27FC236}">
                <a16:creationId xmlns:a16="http://schemas.microsoft.com/office/drawing/2014/main" id="{7283851E-F7E6-CA86-28F0-8D48948F1726}"/>
              </a:ext>
            </a:extLst>
          </p:cNvPr>
          <p:cNvPicPr>
            <a:picLocks noChangeAspect="1"/>
          </p:cNvPicPr>
          <p:nvPr/>
        </p:nvPicPr>
        <p:blipFill>
          <a:blip r:embed="rId4"/>
          <a:stretch>
            <a:fillRect/>
          </a:stretch>
        </p:blipFill>
        <p:spPr>
          <a:xfrm>
            <a:off x="6727636" y="4007069"/>
            <a:ext cx="4193405" cy="2350600"/>
          </a:xfrm>
          <a:prstGeom prst="rect">
            <a:avLst/>
          </a:prstGeom>
          <a:ln>
            <a:solidFill>
              <a:srgbClr val="00B050"/>
            </a:solidFill>
          </a:ln>
        </p:spPr>
      </p:pic>
      <p:pic>
        <p:nvPicPr>
          <p:cNvPr id="6" name="Picture 5">
            <a:extLst>
              <a:ext uri="{FF2B5EF4-FFF2-40B4-BE49-F238E27FC236}">
                <a16:creationId xmlns:a16="http://schemas.microsoft.com/office/drawing/2014/main" id="{27D7A550-D9D4-9AE8-F0DB-974613D14100}"/>
              </a:ext>
            </a:extLst>
          </p:cNvPr>
          <p:cNvPicPr>
            <a:picLocks noChangeAspect="1"/>
          </p:cNvPicPr>
          <p:nvPr/>
        </p:nvPicPr>
        <p:blipFill>
          <a:blip r:embed="rId5"/>
          <a:stretch>
            <a:fillRect/>
          </a:stretch>
        </p:blipFill>
        <p:spPr>
          <a:xfrm>
            <a:off x="502918" y="2985076"/>
            <a:ext cx="6046106" cy="3372593"/>
          </a:xfrm>
          <a:prstGeom prst="rect">
            <a:avLst/>
          </a:prstGeom>
          <a:ln>
            <a:solidFill>
              <a:srgbClr val="00B050"/>
            </a:solidFill>
          </a:ln>
        </p:spPr>
      </p:pic>
      <p:pic>
        <p:nvPicPr>
          <p:cNvPr id="2" name="Image 0" descr="assets/wsp_logo.png">
            <a:extLst>
              <a:ext uri="{FF2B5EF4-FFF2-40B4-BE49-F238E27FC236}">
                <a16:creationId xmlns:a16="http://schemas.microsoft.com/office/drawing/2014/main" id="{91F678F9-06ED-262D-7F5D-5D3A5E266A9F}"/>
              </a:ext>
            </a:extLst>
          </p:cNvPr>
          <p:cNvPicPr>
            <a:picLocks noChangeAspect="1"/>
          </p:cNvPicPr>
          <p:nvPr/>
        </p:nvPicPr>
        <p:blipFill>
          <a:blip r:embed="rId6"/>
          <a:stretch>
            <a:fillRect/>
          </a:stretch>
        </p:blipFill>
        <p:spPr>
          <a:xfrm>
            <a:off x="10771632" y="365760"/>
            <a:ext cx="960120" cy="460858"/>
          </a:xfrm>
          <a:prstGeom prst="rect">
            <a:avLst/>
          </a:prstGeom>
        </p:spPr>
      </p:pic>
      <p:sp>
        <p:nvSpPr>
          <p:cNvPr id="3" name="Text 0">
            <a:extLst>
              <a:ext uri="{FF2B5EF4-FFF2-40B4-BE49-F238E27FC236}">
                <a16:creationId xmlns:a16="http://schemas.microsoft.com/office/drawing/2014/main" id="{AA063B77-41EB-231E-3BB4-A0D87392AF3D}"/>
              </a:ext>
            </a:extLst>
          </p:cNvPr>
          <p:cNvSpPr/>
          <p:nvPr/>
        </p:nvSpPr>
        <p:spPr>
          <a:xfrm>
            <a:off x="502920" y="365760"/>
            <a:ext cx="8229600" cy="274320"/>
          </a:xfrm>
          <a:prstGeom prst="rect">
            <a:avLst/>
          </a:prstGeom>
          <a:noFill/>
          <a:ln/>
        </p:spPr>
        <p:txBody>
          <a:bodyPr wrap="square" lIns="0" tIns="0" rIns="0" bIns="0" rtlCol="0" anchor="ctr"/>
          <a:lstStyle/>
          <a:p>
            <a:pPr marL="0" indent="0">
              <a:buNone/>
            </a:pPr>
            <a:r>
              <a:rPr lang="en-US" sz="1100" kern="0" spc="3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01 — VISUAL NARRATIVE &amp; SEQUENCING</a:t>
            </a:r>
            <a:endParaRPr lang="en-US" sz="11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4" name="Text 1">
            <a:extLst>
              <a:ext uri="{FF2B5EF4-FFF2-40B4-BE49-F238E27FC236}">
                <a16:creationId xmlns:a16="http://schemas.microsoft.com/office/drawing/2014/main" id="{ECE1C03A-6494-E602-4AE3-23600AA619E6}"/>
              </a:ext>
            </a:extLst>
          </p:cNvPr>
          <p:cNvSpPr/>
          <p:nvPr/>
        </p:nvSpPr>
        <p:spPr>
          <a:xfrm>
            <a:off x="502920" y="621792"/>
            <a:ext cx="9966960" cy="502920"/>
          </a:xfrm>
          <a:prstGeom prst="rect">
            <a:avLst/>
          </a:prstGeom>
          <a:noFill/>
          <a:ln/>
        </p:spPr>
        <p:txBody>
          <a:bodyPr wrap="square" lIns="0" tIns="0" rIns="0" bIns="0" rtlCol="0" anchor="ctr"/>
          <a:lstStyle/>
          <a:p>
            <a:pPr marL="0" indent="0">
              <a:buNone/>
            </a:pPr>
            <a:r>
              <a:rPr lang="en-US" sz="2300" dirty="0">
                <a:solidFill>
                  <a:srgbClr val="FFFFFF"/>
                </a:solidFill>
                <a:latin typeface="ADNOC Sans XBold" panose="020B0804020202020204" pitchFamily="34" charset="-78"/>
                <a:ea typeface="Cambria" pitchFamily="34" charset="-122"/>
                <a:cs typeface="ADNOC Sans XBold" panose="020B0804020202020204" pitchFamily="34" charset="-78"/>
              </a:rPr>
              <a:t>A 60-Second Executive Journey: </a:t>
            </a:r>
            <a:r>
              <a:rPr lang="en-US" sz="2300" dirty="0">
                <a:solidFill>
                  <a:srgbClr val="EE3327"/>
                </a:solidFill>
                <a:latin typeface="ADNOC Sans XBold" panose="020B0804020202020204" pitchFamily="34" charset="-78"/>
                <a:ea typeface="Cambria" pitchFamily="34" charset="-122"/>
                <a:cs typeface="ADNOC Sans XBold" panose="020B0804020202020204" pitchFamily="34" charset="-78"/>
              </a:rPr>
              <a:t>Vision to Operations</a:t>
            </a:r>
            <a:endParaRPr lang="en-US" sz="2300" dirty="0">
              <a:solidFill>
                <a:srgbClr val="EE3327"/>
              </a:solidFill>
              <a:latin typeface="ADNOC Sans XBold" panose="020B0804020202020204" pitchFamily="34" charset="-78"/>
              <a:cs typeface="ADNOC Sans XBold" panose="020B0804020202020204" pitchFamily="34" charset="-78"/>
            </a:endParaRPr>
          </a:p>
        </p:txBody>
      </p:sp>
      <p:pic>
        <p:nvPicPr>
          <p:cNvPr id="11" name="Image 2" descr="assets/site_plan_small.jpg">
            <a:extLst>
              <a:ext uri="{FF2B5EF4-FFF2-40B4-BE49-F238E27FC236}">
                <a16:creationId xmlns:a16="http://schemas.microsoft.com/office/drawing/2014/main" id="{7039A27A-8471-00AB-F57E-C07A7FD03F4A}"/>
              </a:ext>
            </a:extLst>
          </p:cNvPr>
          <p:cNvPicPr>
            <a:picLocks noChangeAspect="1"/>
          </p:cNvPicPr>
          <p:nvPr/>
        </p:nvPicPr>
        <p:blipFill>
          <a:blip r:embed="rId7"/>
          <a:srcRect/>
          <a:stretch/>
        </p:blipFill>
        <p:spPr>
          <a:xfrm>
            <a:off x="502918" y="1285335"/>
            <a:ext cx="3232320" cy="1542509"/>
          </a:xfrm>
          <a:prstGeom prst="rect">
            <a:avLst/>
          </a:prstGeom>
          <a:ln>
            <a:solidFill>
              <a:srgbClr val="EE3327"/>
            </a:solidFill>
          </a:ln>
        </p:spPr>
      </p:pic>
    </p:spTree>
    <p:extLst>
      <p:ext uri="{BB962C8B-B14F-4D97-AF65-F5344CB8AC3E}">
        <p14:creationId xmlns:p14="http://schemas.microsoft.com/office/powerpoint/2010/main" val="2854639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CB452911-9123-15EB-C09D-D354371ADF1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97D67555-14B0-B804-2B2F-8F20C404C3F8}"/>
              </a:ext>
            </a:extLst>
          </p:cNvPr>
          <p:cNvPicPr>
            <a:picLocks noChangeAspect="1"/>
          </p:cNvPicPr>
          <p:nvPr/>
        </p:nvPicPr>
        <p:blipFill>
          <a:blip r:embed="rId3"/>
          <a:stretch>
            <a:fillRect/>
          </a:stretch>
        </p:blipFill>
        <p:spPr>
          <a:xfrm>
            <a:off x="6727635" y="4007069"/>
            <a:ext cx="4213961" cy="2350600"/>
          </a:xfrm>
          <a:prstGeom prst="rect">
            <a:avLst/>
          </a:prstGeom>
          <a:ln>
            <a:solidFill>
              <a:srgbClr val="00B050"/>
            </a:solidFill>
          </a:ln>
        </p:spPr>
      </p:pic>
      <p:pic>
        <p:nvPicPr>
          <p:cNvPr id="9" name="Picture 8">
            <a:extLst>
              <a:ext uri="{FF2B5EF4-FFF2-40B4-BE49-F238E27FC236}">
                <a16:creationId xmlns:a16="http://schemas.microsoft.com/office/drawing/2014/main" id="{BA8E00E9-F922-543E-3CD1-879124B2FE0D}"/>
              </a:ext>
            </a:extLst>
          </p:cNvPr>
          <p:cNvPicPr>
            <a:picLocks noChangeAspect="1"/>
          </p:cNvPicPr>
          <p:nvPr/>
        </p:nvPicPr>
        <p:blipFill>
          <a:blip r:embed="rId4"/>
          <a:stretch>
            <a:fillRect/>
          </a:stretch>
        </p:blipFill>
        <p:spPr>
          <a:xfrm>
            <a:off x="502920" y="2985076"/>
            <a:ext cx="6046105" cy="3372593"/>
          </a:xfrm>
          <a:prstGeom prst="rect">
            <a:avLst/>
          </a:prstGeom>
          <a:ln>
            <a:solidFill>
              <a:srgbClr val="00B050"/>
            </a:solidFill>
          </a:ln>
        </p:spPr>
      </p:pic>
      <p:pic>
        <p:nvPicPr>
          <p:cNvPr id="7" name="Image 3" descr="assets/render1_small.jpg">
            <a:extLst>
              <a:ext uri="{FF2B5EF4-FFF2-40B4-BE49-F238E27FC236}">
                <a16:creationId xmlns:a16="http://schemas.microsoft.com/office/drawing/2014/main" id="{CF07977B-52EA-63F3-C0D9-E02C9067199D}"/>
              </a:ext>
            </a:extLst>
          </p:cNvPr>
          <p:cNvPicPr>
            <a:picLocks noChangeAspect="1"/>
          </p:cNvPicPr>
          <p:nvPr/>
        </p:nvPicPr>
        <p:blipFill>
          <a:blip r:embed="rId5"/>
          <a:srcRect/>
          <a:stretch/>
        </p:blipFill>
        <p:spPr>
          <a:xfrm>
            <a:off x="502920" y="1293436"/>
            <a:ext cx="3232318" cy="1542508"/>
          </a:xfrm>
          <a:prstGeom prst="rect">
            <a:avLst/>
          </a:prstGeom>
          <a:ln>
            <a:solidFill>
              <a:srgbClr val="EE3327"/>
            </a:solidFill>
          </a:ln>
        </p:spPr>
      </p:pic>
      <p:pic>
        <p:nvPicPr>
          <p:cNvPr id="14" name="Picture 13">
            <a:extLst>
              <a:ext uri="{FF2B5EF4-FFF2-40B4-BE49-F238E27FC236}">
                <a16:creationId xmlns:a16="http://schemas.microsoft.com/office/drawing/2014/main" id="{9293855F-CC69-8371-6C3D-D14E0B39082B}"/>
              </a:ext>
            </a:extLst>
          </p:cNvPr>
          <p:cNvPicPr>
            <a:picLocks noChangeAspect="1"/>
          </p:cNvPicPr>
          <p:nvPr/>
        </p:nvPicPr>
        <p:blipFill>
          <a:blip r:embed="rId6"/>
          <a:stretch>
            <a:fillRect/>
          </a:stretch>
        </p:blipFill>
        <p:spPr>
          <a:xfrm>
            <a:off x="6727636" y="1546171"/>
            <a:ext cx="4193405" cy="2339133"/>
          </a:xfrm>
          <a:prstGeom prst="rect">
            <a:avLst/>
          </a:prstGeom>
          <a:ln>
            <a:solidFill>
              <a:srgbClr val="00B050"/>
            </a:solidFill>
          </a:ln>
        </p:spPr>
      </p:pic>
      <p:pic>
        <p:nvPicPr>
          <p:cNvPr id="2" name="Image 0" descr="assets/wsp_logo.png">
            <a:extLst>
              <a:ext uri="{FF2B5EF4-FFF2-40B4-BE49-F238E27FC236}">
                <a16:creationId xmlns:a16="http://schemas.microsoft.com/office/drawing/2014/main" id="{DDE68042-EFD1-BBE8-3FBA-610DB3DBBBA8}"/>
              </a:ext>
            </a:extLst>
          </p:cNvPr>
          <p:cNvPicPr>
            <a:picLocks noChangeAspect="1"/>
          </p:cNvPicPr>
          <p:nvPr/>
        </p:nvPicPr>
        <p:blipFill>
          <a:blip r:embed="rId7"/>
          <a:stretch>
            <a:fillRect/>
          </a:stretch>
        </p:blipFill>
        <p:spPr>
          <a:xfrm>
            <a:off x="10771632" y="365760"/>
            <a:ext cx="960120" cy="460858"/>
          </a:xfrm>
          <a:prstGeom prst="rect">
            <a:avLst/>
          </a:prstGeom>
        </p:spPr>
      </p:pic>
      <p:sp>
        <p:nvSpPr>
          <p:cNvPr id="3" name="Text 0">
            <a:extLst>
              <a:ext uri="{FF2B5EF4-FFF2-40B4-BE49-F238E27FC236}">
                <a16:creationId xmlns:a16="http://schemas.microsoft.com/office/drawing/2014/main" id="{884CCCFA-4A5A-9482-B5DD-DA56200EACFE}"/>
              </a:ext>
            </a:extLst>
          </p:cNvPr>
          <p:cNvSpPr/>
          <p:nvPr/>
        </p:nvSpPr>
        <p:spPr>
          <a:xfrm>
            <a:off x="502920" y="365760"/>
            <a:ext cx="8229600" cy="274320"/>
          </a:xfrm>
          <a:prstGeom prst="rect">
            <a:avLst/>
          </a:prstGeom>
          <a:noFill/>
          <a:ln/>
        </p:spPr>
        <p:txBody>
          <a:bodyPr wrap="square" lIns="0" tIns="0" rIns="0" bIns="0" rtlCol="0" anchor="ctr"/>
          <a:lstStyle/>
          <a:p>
            <a:pPr marL="0" indent="0">
              <a:buNone/>
            </a:pPr>
            <a:r>
              <a:rPr lang="en-US" sz="1100" kern="0" spc="3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01 — VISUAL NARRATIVE &amp; SEQUENCING</a:t>
            </a:r>
            <a:endParaRPr lang="en-US" sz="11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4" name="Text 1">
            <a:extLst>
              <a:ext uri="{FF2B5EF4-FFF2-40B4-BE49-F238E27FC236}">
                <a16:creationId xmlns:a16="http://schemas.microsoft.com/office/drawing/2014/main" id="{2ECB0C27-72DB-FC42-08BB-5C1D531956A7}"/>
              </a:ext>
            </a:extLst>
          </p:cNvPr>
          <p:cNvSpPr/>
          <p:nvPr/>
        </p:nvSpPr>
        <p:spPr>
          <a:xfrm>
            <a:off x="502920" y="621792"/>
            <a:ext cx="9966960" cy="502920"/>
          </a:xfrm>
          <a:prstGeom prst="rect">
            <a:avLst/>
          </a:prstGeom>
          <a:noFill/>
          <a:ln/>
        </p:spPr>
        <p:txBody>
          <a:bodyPr wrap="square" lIns="0" tIns="0" rIns="0" bIns="0" rtlCol="0" anchor="ctr"/>
          <a:lstStyle/>
          <a:p>
            <a:pPr marL="0" indent="0">
              <a:buNone/>
            </a:pPr>
            <a:r>
              <a:rPr lang="en-US" sz="2300" dirty="0">
                <a:solidFill>
                  <a:srgbClr val="FFFFFF"/>
                </a:solidFill>
                <a:latin typeface="ADNOC Sans XBold" panose="020B0804020202020204" pitchFamily="34" charset="-78"/>
                <a:ea typeface="Cambria" pitchFamily="34" charset="-122"/>
                <a:cs typeface="ADNOC Sans XBold" panose="020B0804020202020204" pitchFamily="34" charset="-78"/>
              </a:rPr>
              <a:t>A 60-Second Executive Journey: </a:t>
            </a:r>
            <a:r>
              <a:rPr lang="en-US" sz="2300" dirty="0">
                <a:solidFill>
                  <a:srgbClr val="EE3327"/>
                </a:solidFill>
                <a:latin typeface="ADNOC Sans XBold" panose="020B0804020202020204" pitchFamily="34" charset="-78"/>
                <a:ea typeface="Cambria" pitchFamily="34" charset="-122"/>
                <a:cs typeface="ADNOC Sans XBold" panose="020B0804020202020204" pitchFamily="34" charset="-78"/>
              </a:rPr>
              <a:t>Vision to Operations</a:t>
            </a:r>
            <a:endParaRPr lang="en-US" sz="2300" dirty="0">
              <a:solidFill>
                <a:srgbClr val="EE3327"/>
              </a:solidFill>
              <a:latin typeface="ADNOC Sans XBold" panose="020B0804020202020204" pitchFamily="34" charset="-78"/>
              <a:cs typeface="ADNOC Sans XBold" panose="020B0804020202020204" pitchFamily="34" charset="-78"/>
            </a:endParaRPr>
          </a:p>
        </p:txBody>
      </p:sp>
    </p:spTree>
    <p:extLst>
      <p:ext uri="{BB962C8B-B14F-4D97-AF65-F5344CB8AC3E}">
        <p14:creationId xmlns:p14="http://schemas.microsoft.com/office/powerpoint/2010/main" val="2370738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0A0A0A"/>
        </a:solidFill>
        <a:effectLst/>
      </p:bgPr>
    </p:bg>
    <p:spTree>
      <p:nvGrpSpPr>
        <p:cNvPr id="1" name=""/>
        <p:cNvGrpSpPr/>
        <p:nvPr/>
      </p:nvGrpSpPr>
      <p:grpSpPr>
        <a:xfrm>
          <a:off x="0" y="0"/>
          <a:ext cx="0" cy="0"/>
          <a:chOff x="0" y="0"/>
          <a:chExt cx="0" cy="0"/>
        </a:xfrm>
      </p:grpSpPr>
      <p:pic>
        <p:nvPicPr>
          <p:cNvPr id="2" name="Image 0" descr="assets/wsp_logo.png"/>
          <p:cNvPicPr>
            <a:picLocks noChangeAspect="1"/>
          </p:cNvPicPr>
          <p:nvPr/>
        </p:nvPicPr>
        <p:blipFill>
          <a:blip r:embed="rId3"/>
          <a:stretch>
            <a:fillRect/>
          </a:stretch>
        </p:blipFill>
        <p:spPr>
          <a:xfrm>
            <a:off x="10771632" y="365760"/>
            <a:ext cx="960120" cy="460858"/>
          </a:xfrm>
          <a:prstGeom prst="rect">
            <a:avLst/>
          </a:prstGeom>
        </p:spPr>
      </p:pic>
      <p:sp>
        <p:nvSpPr>
          <p:cNvPr id="3"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100" kern="0" spc="300" dirty="0">
                <a:solidFill>
                  <a:srgbClr val="C8102E"/>
                </a:solidFill>
                <a:latin typeface="ADNOC Sans Medium" panose="020B0504020202020204" pitchFamily="34" charset="0"/>
                <a:ea typeface="ADNOC Sans Medium" panose="020B0504020202020204" pitchFamily="34" charset="0"/>
                <a:cs typeface="ADNOC Sans Medium" panose="020B0504020202020204" pitchFamily="34" charset="0"/>
              </a:rPr>
              <a:t>02 — CONTENT DEVELOPMENT METHODOLOGY</a:t>
            </a:r>
            <a:endParaRPr lang="en-US" sz="1100" dirty="0">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4" name="Text 1"/>
          <p:cNvSpPr/>
          <p:nvPr/>
        </p:nvSpPr>
        <p:spPr>
          <a:xfrm>
            <a:off x="502920" y="621792"/>
            <a:ext cx="9966960" cy="502920"/>
          </a:xfrm>
          <a:prstGeom prst="rect">
            <a:avLst/>
          </a:prstGeom>
          <a:noFill/>
          <a:ln/>
        </p:spPr>
        <p:txBody>
          <a:bodyPr wrap="square" lIns="0" tIns="0" rIns="0" bIns="0" rtlCol="0" anchor="ctr"/>
          <a:lstStyle/>
          <a:p>
            <a:pPr marL="0" indent="0">
              <a:buNone/>
            </a:pPr>
            <a:r>
              <a:rPr lang="en-US" sz="2300" dirty="0">
                <a:solidFill>
                  <a:srgbClr val="FFFFFF"/>
                </a:solidFill>
                <a:latin typeface="ADNOC Sans XBold" panose="020B0804020202020204" pitchFamily="34" charset="-78"/>
                <a:ea typeface="Cambria" pitchFamily="34" charset="-122"/>
                <a:cs typeface="ADNOC Sans XBold" panose="020B0804020202020204" pitchFamily="34" charset="-78"/>
              </a:rPr>
              <a:t>Five Steps: Source Material to Executive Story</a:t>
            </a:r>
            <a:endParaRPr lang="en-US" sz="2300" dirty="0">
              <a:latin typeface="ADNOC Sans XBold" panose="020B0804020202020204" pitchFamily="34" charset="-78"/>
              <a:cs typeface="ADNOC Sans XBold" panose="020B0804020202020204" pitchFamily="34" charset="-78"/>
            </a:endParaRPr>
          </a:p>
        </p:txBody>
      </p:sp>
      <p:sp>
        <p:nvSpPr>
          <p:cNvPr id="5" name="Text 2"/>
          <p:cNvSpPr/>
          <p:nvPr/>
        </p:nvSpPr>
        <p:spPr>
          <a:xfrm>
            <a:off x="502920" y="1097280"/>
            <a:ext cx="9966960" cy="320040"/>
          </a:xfrm>
          <a:prstGeom prst="rect">
            <a:avLst/>
          </a:prstGeom>
          <a:noFill/>
          <a:ln/>
        </p:spPr>
        <p:txBody>
          <a:bodyPr wrap="square" lIns="0" tIns="0" rIns="0" bIns="0" rtlCol="0" anchor="ctr"/>
          <a:lstStyle/>
          <a:p>
            <a:pPr marL="0" indent="0">
              <a:buNone/>
            </a:pPr>
            <a:r>
              <a:rPr lang="en-US" sz="11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The same sequence for any project — only the inputs change.</a:t>
            </a:r>
            <a:endParaRPr lang="en-US" sz="11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6" name="Shape 3"/>
          <p:cNvSpPr/>
          <p:nvPr/>
        </p:nvSpPr>
        <p:spPr>
          <a:xfrm>
            <a:off x="502920" y="1481328"/>
            <a:ext cx="11183112" cy="0"/>
          </a:xfrm>
          <a:prstGeom prst="line">
            <a:avLst/>
          </a:prstGeom>
          <a:noFill/>
          <a:ln w="12700">
            <a:solidFill>
              <a:srgbClr val="2A2A2A"/>
            </a:solidFill>
            <a:prstDash val="solid"/>
          </a:ln>
        </p:spPr>
      </p:sp>
      <p:sp>
        <p:nvSpPr>
          <p:cNvPr id="7" name="Text 4"/>
          <p:cNvSpPr/>
          <p:nvPr/>
        </p:nvSpPr>
        <p:spPr>
          <a:xfrm>
            <a:off x="8778240" y="6528816"/>
            <a:ext cx="2907792" cy="256032"/>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Hussein Masri</a:t>
            </a:r>
            <a:endParaRPr lang="en-US" sz="1000" dirty="0"/>
          </a:p>
        </p:txBody>
      </p:sp>
      <p:sp>
        <p:nvSpPr>
          <p:cNvPr id="8" name="Shape 5"/>
          <p:cNvSpPr/>
          <p:nvPr/>
        </p:nvSpPr>
        <p:spPr>
          <a:xfrm>
            <a:off x="502920" y="1691640"/>
            <a:ext cx="7040880" cy="896112"/>
          </a:xfrm>
          <a:prstGeom prst="roundRect">
            <a:avLst>
              <a:gd name="adj" fmla="val 5102"/>
            </a:avLst>
          </a:prstGeom>
          <a:solidFill>
            <a:srgbClr val="161616"/>
          </a:solidFill>
          <a:ln/>
        </p:spPr>
      </p:sp>
      <p:sp>
        <p:nvSpPr>
          <p:cNvPr id="9" name="Shape 6"/>
          <p:cNvSpPr/>
          <p:nvPr/>
        </p:nvSpPr>
        <p:spPr>
          <a:xfrm>
            <a:off x="713232" y="1920240"/>
            <a:ext cx="438912" cy="438912"/>
          </a:xfrm>
          <a:prstGeom prst="ellipse">
            <a:avLst/>
          </a:prstGeom>
          <a:solidFill>
            <a:srgbClr val="1F1F1F"/>
          </a:solidFill>
          <a:ln/>
        </p:spPr>
      </p:sp>
      <p:pic>
        <p:nvPicPr>
          <p:cNvPr id="10" name="Image 1" descr="assets/icon_audit.png"/>
          <p:cNvPicPr>
            <a:picLocks noChangeAspect="1"/>
          </p:cNvPicPr>
          <p:nvPr/>
        </p:nvPicPr>
        <p:blipFill>
          <a:blip r:embed="rId4">
            <a:duotone>
              <a:schemeClr val="bg2">
                <a:shade val="45000"/>
                <a:satMod val="135000"/>
              </a:schemeClr>
              <a:prstClr val="white"/>
            </a:duotone>
          </a:blip>
          <a:stretch>
            <a:fillRect/>
          </a:stretch>
        </p:blipFill>
        <p:spPr>
          <a:xfrm>
            <a:off x="822960" y="2029968"/>
            <a:ext cx="219456" cy="219456"/>
          </a:xfrm>
          <a:prstGeom prst="rect">
            <a:avLst/>
          </a:prstGeom>
        </p:spPr>
      </p:pic>
      <p:sp>
        <p:nvSpPr>
          <p:cNvPr id="11" name="Text 7"/>
          <p:cNvSpPr/>
          <p:nvPr/>
        </p:nvSpPr>
        <p:spPr>
          <a:xfrm>
            <a:off x="1298448" y="1691640"/>
            <a:ext cx="457200" cy="896112"/>
          </a:xfrm>
          <a:prstGeom prst="rect">
            <a:avLst/>
          </a:prstGeom>
          <a:noFill/>
          <a:ln/>
        </p:spPr>
        <p:txBody>
          <a:bodyPr wrap="square" lIns="0" tIns="0" rIns="0" bIns="0" rtlCol="0" anchor="ctr"/>
          <a:lstStyle/>
          <a:p>
            <a:pPr marL="0" indent="0">
              <a:buNone/>
            </a:pPr>
            <a:r>
              <a:rPr lang="en-US" sz="1600" dirty="0">
                <a:solidFill>
                  <a:srgbClr val="C8102E"/>
                </a:solidFill>
                <a:latin typeface="ADNOC Sans XBold" panose="020B0804020202020204" pitchFamily="34" charset="-78"/>
                <a:ea typeface="Cambria" pitchFamily="34" charset="-122"/>
                <a:cs typeface="ADNOC Sans XBold" panose="020B0804020202020204" pitchFamily="34" charset="-78"/>
              </a:rPr>
              <a:t>01</a:t>
            </a:r>
            <a:endParaRPr lang="en-US" sz="1600" dirty="0">
              <a:latin typeface="ADNOC Sans XBold" panose="020B0804020202020204" pitchFamily="34" charset="-78"/>
              <a:cs typeface="ADNOC Sans XBold" panose="020B0804020202020204" pitchFamily="34" charset="-78"/>
            </a:endParaRPr>
          </a:p>
        </p:txBody>
      </p:sp>
      <p:sp>
        <p:nvSpPr>
          <p:cNvPr id="12" name="Text 8"/>
          <p:cNvSpPr/>
          <p:nvPr/>
        </p:nvSpPr>
        <p:spPr>
          <a:xfrm>
            <a:off x="1810512" y="1691640"/>
            <a:ext cx="1783080" cy="896112"/>
          </a:xfrm>
          <a:prstGeom prst="rect">
            <a:avLst/>
          </a:prstGeom>
          <a:noFill/>
          <a:ln/>
        </p:spPr>
        <p:txBody>
          <a:bodyPr wrap="square" lIns="0" tIns="0" rIns="0" bIns="0" rtlCol="0" anchor="ctr"/>
          <a:lstStyle/>
          <a:p>
            <a:pPr marL="0" indent="0">
              <a:lnSpc>
                <a:spcPts val="1300"/>
              </a:lnSpc>
              <a:buNone/>
            </a:pPr>
            <a:r>
              <a:rPr lang="en-US" sz="1100" dirty="0">
                <a:solidFill>
                  <a:srgbClr val="FFFFFF"/>
                </a:solidFill>
                <a:latin typeface="ADNOC Sans XBold" panose="020B0804020202020204" pitchFamily="34" charset="-78"/>
                <a:ea typeface="Calibri" pitchFamily="34" charset="-122"/>
                <a:cs typeface="ADNOC Sans XBold" panose="020B0804020202020204" pitchFamily="34" charset="-78"/>
              </a:rPr>
              <a:t>Source Review &amp; Audit</a:t>
            </a:r>
            <a:endParaRPr lang="en-US" sz="1100" dirty="0">
              <a:latin typeface="ADNOC Sans XBold" panose="020B0804020202020204" pitchFamily="34" charset="-78"/>
              <a:cs typeface="ADNOC Sans XBold" panose="020B0804020202020204" pitchFamily="34" charset="-78"/>
            </a:endParaRPr>
          </a:p>
        </p:txBody>
      </p:sp>
      <p:sp>
        <p:nvSpPr>
          <p:cNvPr id="13" name="Text 9"/>
          <p:cNvSpPr/>
          <p:nvPr/>
        </p:nvSpPr>
        <p:spPr>
          <a:xfrm>
            <a:off x="3790188" y="1691640"/>
            <a:ext cx="3557016" cy="896112"/>
          </a:xfrm>
          <a:prstGeom prst="rect">
            <a:avLst/>
          </a:prstGeom>
          <a:noFill/>
          <a:ln/>
        </p:spPr>
        <p:txBody>
          <a:bodyPr wrap="square" lIns="0" tIns="0" rIns="0" bIns="0" rtlCol="0" anchor="ctr"/>
          <a:lstStyle/>
          <a:p>
            <a:pPr marL="0" indent="0">
              <a:lnSpc>
                <a:spcPts val="1200"/>
              </a:lnSpc>
              <a:buNone/>
            </a:pP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Catalogue every input and flag gaps before any creative decision is made.</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14" name="Shape 10"/>
          <p:cNvSpPr/>
          <p:nvPr/>
        </p:nvSpPr>
        <p:spPr>
          <a:xfrm>
            <a:off x="502920" y="2660904"/>
            <a:ext cx="7040880" cy="896112"/>
          </a:xfrm>
          <a:prstGeom prst="roundRect">
            <a:avLst>
              <a:gd name="adj" fmla="val 5102"/>
            </a:avLst>
          </a:prstGeom>
          <a:solidFill>
            <a:srgbClr val="161616"/>
          </a:solidFill>
          <a:ln/>
        </p:spPr>
      </p:sp>
      <p:sp>
        <p:nvSpPr>
          <p:cNvPr id="15" name="Shape 11"/>
          <p:cNvSpPr/>
          <p:nvPr/>
        </p:nvSpPr>
        <p:spPr>
          <a:xfrm>
            <a:off x="713232" y="2889504"/>
            <a:ext cx="438912" cy="438912"/>
          </a:xfrm>
          <a:prstGeom prst="ellipse">
            <a:avLst/>
          </a:prstGeom>
          <a:solidFill>
            <a:srgbClr val="1F1F1F"/>
          </a:solidFill>
          <a:ln/>
        </p:spPr>
      </p:sp>
      <p:pic>
        <p:nvPicPr>
          <p:cNvPr id="16" name="Image 2" descr="assets/icon_triage.png"/>
          <p:cNvPicPr>
            <a:picLocks noChangeAspect="1"/>
          </p:cNvPicPr>
          <p:nvPr/>
        </p:nvPicPr>
        <p:blipFill>
          <a:blip r:embed="rId5">
            <a:duotone>
              <a:schemeClr val="bg2">
                <a:shade val="45000"/>
                <a:satMod val="135000"/>
              </a:schemeClr>
              <a:prstClr val="white"/>
            </a:duotone>
          </a:blip>
          <a:stretch>
            <a:fillRect/>
          </a:stretch>
        </p:blipFill>
        <p:spPr>
          <a:xfrm>
            <a:off x="822960" y="2999232"/>
            <a:ext cx="219456" cy="219456"/>
          </a:xfrm>
          <a:prstGeom prst="rect">
            <a:avLst/>
          </a:prstGeom>
        </p:spPr>
      </p:pic>
      <p:sp>
        <p:nvSpPr>
          <p:cNvPr id="17" name="Text 12"/>
          <p:cNvSpPr/>
          <p:nvPr/>
        </p:nvSpPr>
        <p:spPr>
          <a:xfrm>
            <a:off x="1298448" y="2660904"/>
            <a:ext cx="457200" cy="896112"/>
          </a:xfrm>
          <a:prstGeom prst="rect">
            <a:avLst/>
          </a:prstGeom>
          <a:noFill/>
          <a:ln/>
        </p:spPr>
        <p:txBody>
          <a:bodyPr wrap="square" lIns="0" tIns="0" rIns="0" bIns="0" rtlCol="0" anchor="ctr"/>
          <a:lstStyle/>
          <a:p>
            <a:pPr marL="0" indent="0">
              <a:buNone/>
            </a:pPr>
            <a:r>
              <a:rPr lang="en-US" sz="1600" dirty="0">
                <a:solidFill>
                  <a:srgbClr val="C8102E"/>
                </a:solidFill>
                <a:latin typeface="ADNOC Sans XBold" panose="020B0804020202020204" pitchFamily="34" charset="-78"/>
                <a:ea typeface="Cambria" pitchFamily="34" charset="-122"/>
                <a:cs typeface="ADNOC Sans XBold" panose="020B0804020202020204" pitchFamily="34" charset="-78"/>
              </a:rPr>
              <a:t>02</a:t>
            </a:r>
            <a:endParaRPr lang="en-US" sz="1600" dirty="0">
              <a:latin typeface="ADNOC Sans XBold" panose="020B0804020202020204" pitchFamily="34" charset="-78"/>
              <a:cs typeface="ADNOC Sans XBold" panose="020B0804020202020204" pitchFamily="34" charset="-78"/>
            </a:endParaRPr>
          </a:p>
        </p:txBody>
      </p:sp>
      <p:sp>
        <p:nvSpPr>
          <p:cNvPr id="18" name="Text 13"/>
          <p:cNvSpPr/>
          <p:nvPr/>
        </p:nvSpPr>
        <p:spPr>
          <a:xfrm>
            <a:off x="1810512" y="2660904"/>
            <a:ext cx="1783080" cy="896112"/>
          </a:xfrm>
          <a:prstGeom prst="rect">
            <a:avLst/>
          </a:prstGeom>
          <a:noFill/>
          <a:ln/>
        </p:spPr>
        <p:txBody>
          <a:bodyPr wrap="square" lIns="0" tIns="0" rIns="0" bIns="0" rtlCol="0" anchor="ctr"/>
          <a:lstStyle/>
          <a:p>
            <a:pPr marL="0" indent="0">
              <a:lnSpc>
                <a:spcPts val="1300"/>
              </a:lnSpc>
              <a:buNone/>
            </a:pPr>
            <a:r>
              <a:rPr lang="en-US" sz="1100" dirty="0">
                <a:solidFill>
                  <a:srgbClr val="FFFFFF"/>
                </a:solidFill>
                <a:latin typeface="ADNOC Sans XBold" panose="020B0804020202020204" pitchFamily="34" charset="-78"/>
                <a:ea typeface="Calibri" pitchFamily="34" charset="-122"/>
                <a:cs typeface="ADNOC Sans XBold" panose="020B0804020202020204" pitchFamily="34" charset="-78"/>
              </a:rPr>
              <a:t>Information Triage</a:t>
            </a:r>
            <a:endParaRPr lang="en-US" sz="1100" dirty="0">
              <a:latin typeface="ADNOC Sans XBold" panose="020B0804020202020204" pitchFamily="34" charset="-78"/>
              <a:cs typeface="ADNOC Sans XBold" panose="020B0804020202020204" pitchFamily="34" charset="-78"/>
            </a:endParaRPr>
          </a:p>
        </p:txBody>
      </p:sp>
      <p:sp>
        <p:nvSpPr>
          <p:cNvPr id="19" name="Text 14"/>
          <p:cNvSpPr/>
          <p:nvPr/>
        </p:nvSpPr>
        <p:spPr>
          <a:xfrm>
            <a:off x="3790188" y="2660904"/>
            <a:ext cx="3557016" cy="896112"/>
          </a:xfrm>
          <a:prstGeom prst="rect">
            <a:avLst/>
          </a:prstGeom>
          <a:noFill/>
          <a:ln/>
        </p:spPr>
        <p:txBody>
          <a:bodyPr wrap="square" lIns="0" tIns="0" rIns="0" bIns="0" rtlCol="0" anchor="ctr"/>
          <a:lstStyle/>
          <a:p>
            <a:pPr marL="0" indent="0">
              <a:lnSpc>
                <a:spcPts val="1200"/>
              </a:lnSpc>
              <a:buNone/>
            </a:pP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Separate what an executive audience must retain from supporting technical detail.</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0" name="Shape 15"/>
          <p:cNvSpPr/>
          <p:nvPr/>
        </p:nvSpPr>
        <p:spPr>
          <a:xfrm>
            <a:off x="502920" y="3630168"/>
            <a:ext cx="7040880" cy="896112"/>
          </a:xfrm>
          <a:prstGeom prst="roundRect">
            <a:avLst>
              <a:gd name="adj" fmla="val 5102"/>
            </a:avLst>
          </a:prstGeom>
          <a:solidFill>
            <a:srgbClr val="161616"/>
          </a:solidFill>
          <a:ln/>
        </p:spPr>
      </p:sp>
      <p:sp>
        <p:nvSpPr>
          <p:cNvPr id="21" name="Shape 16"/>
          <p:cNvSpPr/>
          <p:nvPr/>
        </p:nvSpPr>
        <p:spPr>
          <a:xfrm>
            <a:off x="713232" y="3858768"/>
            <a:ext cx="438912" cy="438912"/>
          </a:xfrm>
          <a:prstGeom prst="ellipse">
            <a:avLst/>
          </a:prstGeom>
          <a:solidFill>
            <a:srgbClr val="1F1F1F"/>
          </a:solidFill>
          <a:ln/>
        </p:spPr>
      </p:sp>
      <p:pic>
        <p:nvPicPr>
          <p:cNvPr id="22" name="Image 3" descr="assets/icon_visual.png"/>
          <p:cNvPicPr>
            <a:picLocks noChangeAspect="1"/>
          </p:cNvPicPr>
          <p:nvPr/>
        </p:nvPicPr>
        <p:blipFill>
          <a:blip r:embed="rId6">
            <a:duotone>
              <a:schemeClr val="bg2">
                <a:shade val="45000"/>
                <a:satMod val="135000"/>
              </a:schemeClr>
              <a:prstClr val="white"/>
            </a:duotone>
          </a:blip>
          <a:stretch>
            <a:fillRect/>
          </a:stretch>
        </p:blipFill>
        <p:spPr>
          <a:xfrm>
            <a:off x="822960" y="3968496"/>
            <a:ext cx="219456" cy="219456"/>
          </a:xfrm>
          <a:prstGeom prst="rect">
            <a:avLst/>
          </a:prstGeom>
        </p:spPr>
      </p:pic>
      <p:sp>
        <p:nvSpPr>
          <p:cNvPr id="23" name="Text 17"/>
          <p:cNvSpPr/>
          <p:nvPr/>
        </p:nvSpPr>
        <p:spPr>
          <a:xfrm>
            <a:off x="1298448" y="3630168"/>
            <a:ext cx="457200" cy="896112"/>
          </a:xfrm>
          <a:prstGeom prst="rect">
            <a:avLst/>
          </a:prstGeom>
          <a:noFill/>
          <a:ln/>
        </p:spPr>
        <p:txBody>
          <a:bodyPr wrap="square" lIns="0" tIns="0" rIns="0" bIns="0" rtlCol="0" anchor="ctr"/>
          <a:lstStyle/>
          <a:p>
            <a:pPr marL="0" indent="0">
              <a:buNone/>
            </a:pPr>
            <a:r>
              <a:rPr lang="en-US" sz="1600" dirty="0">
                <a:solidFill>
                  <a:srgbClr val="C8102E"/>
                </a:solidFill>
                <a:latin typeface="ADNOC Sans XBold" panose="020B0804020202020204" pitchFamily="34" charset="-78"/>
                <a:ea typeface="Cambria" pitchFamily="34" charset="-122"/>
                <a:cs typeface="ADNOC Sans XBold" panose="020B0804020202020204" pitchFamily="34" charset="-78"/>
              </a:rPr>
              <a:t>03</a:t>
            </a:r>
            <a:endParaRPr lang="en-US" sz="1600" dirty="0">
              <a:latin typeface="ADNOC Sans XBold" panose="020B0804020202020204" pitchFamily="34" charset="-78"/>
              <a:cs typeface="ADNOC Sans XBold" panose="020B0804020202020204" pitchFamily="34" charset="-78"/>
            </a:endParaRPr>
          </a:p>
        </p:txBody>
      </p:sp>
      <p:sp>
        <p:nvSpPr>
          <p:cNvPr id="24" name="Text 18"/>
          <p:cNvSpPr/>
          <p:nvPr/>
        </p:nvSpPr>
        <p:spPr>
          <a:xfrm>
            <a:off x="1810512" y="3630168"/>
            <a:ext cx="1783080" cy="896112"/>
          </a:xfrm>
          <a:prstGeom prst="rect">
            <a:avLst/>
          </a:prstGeom>
          <a:noFill/>
          <a:ln/>
        </p:spPr>
        <p:txBody>
          <a:bodyPr wrap="square" lIns="0" tIns="0" rIns="0" bIns="0" rtlCol="0" anchor="ctr"/>
          <a:lstStyle/>
          <a:p>
            <a:pPr marL="0" indent="0">
              <a:lnSpc>
                <a:spcPts val="1300"/>
              </a:lnSpc>
              <a:buNone/>
            </a:pPr>
            <a:r>
              <a:rPr lang="en-US" sz="1100" dirty="0">
                <a:solidFill>
                  <a:srgbClr val="FFFFFF"/>
                </a:solidFill>
                <a:latin typeface="ADNOC Sans XBold" panose="020B0804020202020204" pitchFamily="34" charset="-78"/>
                <a:ea typeface="Calibri" pitchFamily="34" charset="-122"/>
                <a:cs typeface="ADNOC Sans XBold" panose="020B0804020202020204" pitchFamily="34" charset="-78"/>
              </a:rPr>
              <a:t>Visual Approach per Stage</a:t>
            </a:r>
            <a:endParaRPr lang="en-US" sz="1100" dirty="0">
              <a:latin typeface="ADNOC Sans XBold" panose="020B0804020202020204" pitchFamily="34" charset="-78"/>
              <a:cs typeface="ADNOC Sans XBold" panose="020B0804020202020204" pitchFamily="34" charset="-78"/>
            </a:endParaRPr>
          </a:p>
        </p:txBody>
      </p:sp>
      <p:sp>
        <p:nvSpPr>
          <p:cNvPr id="25" name="Text 19"/>
          <p:cNvSpPr/>
          <p:nvPr/>
        </p:nvSpPr>
        <p:spPr>
          <a:xfrm>
            <a:off x="3790188" y="3630168"/>
            <a:ext cx="3557016" cy="896112"/>
          </a:xfrm>
          <a:prstGeom prst="rect">
            <a:avLst/>
          </a:prstGeom>
          <a:noFill/>
          <a:ln/>
        </p:spPr>
        <p:txBody>
          <a:bodyPr wrap="square" lIns="0" tIns="0" rIns="0" bIns="0" rtlCol="0" anchor="ctr"/>
          <a:lstStyle/>
          <a:p>
            <a:pPr marL="0" indent="0">
              <a:lnSpc>
                <a:spcPts val="1200"/>
              </a:lnSpc>
              <a:buNone/>
            </a:pP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Assign a treatment per programme phase  plan, render, or iconography.</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6" name="Shape 20"/>
          <p:cNvSpPr/>
          <p:nvPr/>
        </p:nvSpPr>
        <p:spPr>
          <a:xfrm>
            <a:off x="502920" y="4599432"/>
            <a:ext cx="7040880" cy="896112"/>
          </a:xfrm>
          <a:prstGeom prst="roundRect">
            <a:avLst>
              <a:gd name="adj" fmla="val 5102"/>
            </a:avLst>
          </a:prstGeom>
          <a:solidFill>
            <a:srgbClr val="161616"/>
          </a:solidFill>
          <a:ln/>
        </p:spPr>
      </p:sp>
      <p:sp>
        <p:nvSpPr>
          <p:cNvPr id="27" name="Shape 21"/>
          <p:cNvSpPr/>
          <p:nvPr/>
        </p:nvSpPr>
        <p:spPr>
          <a:xfrm>
            <a:off x="713232" y="4828032"/>
            <a:ext cx="438912" cy="438912"/>
          </a:xfrm>
          <a:prstGeom prst="ellipse">
            <a:avLst/>
          </a:prstGeom>
          <a:solidFill>
            <a:srgbClr val="1F1F1F"/>
          </a:solidFill>
          <a:ln/>
        </p:spPr>
      </p:sp>
      <p:pic>
        <p:nvPicPr>
          <p:cNvPr id="28" name="Image 4" descr="assets/icon_translate.png"/>
          <p:cNvPicPr>
            <a:picLocks noChangeAspect="1"/>
          </p:cNvPicPr>
          <p:nvPr/>
        </p:nvPicPr>
        <p:blipFill>
          <a:blip r:embed="rId7">
            <a:duotone>
              <a:schemeClr val="bg2">
                <a:shade val="45000"/>
                <a:satMod val="135000"/>
              </a:schemeClr>
              <a:prstClr val="white"/>
            </a:duotone>
          </a:blip>
          <a:stretch>
            <a:fillRect/>
          </a:stretch>
        </p:blipFill>
        <p:spPr>
          <a:xfrm>
            <a:off x="822960" y="4937760"/>
            <a:ext cx="219456" cy="219456"/>
          </a:xfrm>
          <a:prstGeom prst="rect">
            <a:avLst/>
          </a:prstGeom>
        </p:spPr>
      </p:pic>
      <p:sp>
        <p:nvSpPr>
          <p:cNvPr id="29" name="Text 22"/>
          <p:cNvSpPr/>
          <p:nvPr/>
        </p:nvSpPr>
        <p:spPr>
          <a:xfrm>
            <a:off x="1298448" y="4599432"/>
            <a:ext cx="457200" cy="896112"/>
          </a:xfrm>
          <a:prstGeom prst="rect">
            <a:avLst/>
          </a:prstGeom>
          <a:noFill/>
          <a:ln/>
        </p:spPr>
        <p:txBody>
          <a:bodyPr wrap="square" lIns="0" tIns="0" rIns="0" bIns="0" rtlCol="0" anchor="ctr"/>
          <a:lstStyle/>
          <a:p>
            <a:pPr marL="0" indent="0">
              <a:buNone/>
            </a:pPr>
            <a:r>
              <a:rPr lang="en-US" sz="1600" dirty="0">
                <a:solidFill>
                  <a:srgbClr val="C8102E"/>
                </a:solidFill>
                <a:latin typeface="ADNOC Sans XBold" panose="020B0804020202020204" pitchFamily="34" charset="-78"/>
                <a:ea typeface="Cambria" pitchFamily="34" charset="-122"/>
                <a:cs typeface="ADNOC Sans XBold" panose="020B0804020202020204" pitchFamily="34" charset="-78"/>
              </a:rPr>
              <a:t>04</a:t>
            </a:r>
            <a:endParaRPr lang="en-US" sz="1600" dirty="0">
              <a:latin typeface="ADNOC Sans XBold" panose="020B0804020202020204" pitchFamily="34" charset="-78"/>
              <a:cs typeface="ADNOC Sans XBold" panose="020B0804020202020204" pitchFamily="34" charset="-78"/>
            </a:endParaRPr>
          </a:p>
        </p:txBody>
      </p:sp>
      <p:sp>
        <p:nvSpPr>
          <p:cNvPr id="30" name="Text 23"/>
          <p:cNvSpPr/>
          <p:nvPr/>
        </p:nvSpPr>
        <p:spPr>
          <a:xfrm>
            <a:off x="1810512" y="4599432"/>
            <a:ext cx="1783080" cy="896112"/>
          </a:xfrm>
          <a:prstGeom prst="rect">
            <a:avLst/>
          </a:prstGeom>
          <a:noFill/>
          <a:ln/>
        </p:spPr>
        <p:txBody>
          <a:bodyPr wrap="square" lIns="0" tIns="0" rIns="0" bIns="0" rtlCol="0" anchor="ctr"/>
          <a:lstStyle/>
          <a:p>
            <a:pPr marL="0" indent="0">
              <a:lnSpc>
                <a:spcPts val="1300"/>
              </a:lnSpc>
              <a:buNone/>
            </a:pPr>
            <a:r>
              <a:rPr lang="en-US" sz="1100" dirty="0">
                <a:solidFill>
                  <a:srgbClr val="FFFFFF"/>
                </a:solidFill>
                <a:latin typeface="ADNOC Sans XBold" panose="020B0804020202020204" pitchFamily="34" charset="-78"/>
                <a:ea typeface="Calibri" pitchFamily="34" charset="-122"/>
                <a:cs typeface="ADNOC Sans XBold" panose="020B0804020202020204" pitchFamily="34" charset="-78"/>
              </a:rPr>
              <a:t>Executive Translation</a:t>
            </a:r>
            <a:endParaRPr lang="en-US" sz="1100" dirty="0">
              <a:latin typeface="ADNOC Sans XBold" panose="020B0804020202020204" pitchFamily="34" charset="-78"/>
              <a:cs typeface="ADNOC Sans XBold" panose="020B0804020202020204" pitchFamily="34" charset="-78"/>
            </a:endParaRPr>
          </a:p>
        </p:txBody>
      </p:sp>
      <p:sp>
        <p:nvSpPr>
          <p:cNvPr id="31" name="Text 24"/>
          <p:cNvSpPr/>
          <p:nvPr/>
        </p:nvSpPr>
        <p:spPr>
          <a:xfrm>
            <a:off x="3790188" y="4599432"/>
            <a:ext cx="3557016" cy="896112"/>
          </a:xfrm>
          <a:prstGeom prst="rect">
            <a:avLst/>
          </a:prstGeom>
          <a:noFill/>
          <a:ln/>
        </p:spPr>
        <p:txBody>
          <a:bodyPr wrap="square" lIns="0" tIns="0" rIns="0" bIns="0" rtlCol="0" anchor="ctr"/>
          <a:lstStyle/>
          <a:p>
            <a:pPr marL="0" indent="0">
              <a:lnSpc>
                <a:spcPts val="1200"/>
              </a:lnSpc>
              <a:buNone/>
            </a:pP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"RIBA Stage 4 sign-off" </a:t>
            </a:r>
            <a:r>
              <a:rPr lang="en-US" sz="950" dirty="0">
                <a:solidFill>
                  <a:srgbClr val="FF0000"/>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"Design Finalised"; "T&amp;C &amp; H/O" </a:t>
            </a:r>
            <a:r>
              <a:rPr lang="en-US" sz="950" dirty="0">
                <a:solidFill>
                  <a:srgbClr val="FF0000"/>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"Ready for Operations."</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32" name="Shape 25"/>
          <p:cNvSpPr/>
          <p:nvPr/>
        </p:nvSpPr>
        <p:spPr>
          <a:xfrm>
            <a:off x="502920" y="5568696"/>
            <a:ext cx="7040880" cy="896112"/>
          </a:xfrm>
          <a:prstGeom prst="roundRect">
            <a:avLst>
              <a:gd name="adj" fmla="val 5102"/>
            </a:avLst>
          </a:prstGeom>
          <a:solidFill>
            <a:srgbClr val="161616"/>
          </a:solidFill>
          <a:ln/>
        </p:spPr>
      </p:sp>
      <p:sp>
        <p:nvSpPr>
          <p:cNvPr id="33" name="Shape 26"/>
          <p:cNvSpPr/>
          <p:nvPr/>
        </p:nvSpPr>
        <p:spPr>
          <a:xfrm>
            <a:off x="713232" y="5797296"/>
            <a:ext cx="438912" cy="438912"/>
          </a:xfrm>
          <a:prstGeom prst="ellipse">
            <a:avLst/>
          </a:prstGeom>
          <a:solidFill>
            <a:srgbClr val="1F1F1F"/>
          </a:solidFill>
          <a:ln/>
        </p:spPr>
      </p:sp>
      <p:pic>
        <p:nvPicPr>
          <p:cNvPr id="34" name="Image 5" descr="assets/icon_accuracy.png"/>
          <p:cNvPicPr>
            <a:picLocks noChangeAspect="1"/>
          </p:cNvPicPr>
          <p:nvPr/>
        </p:nvPicPr>
        <p:blipFill>
          <a:blip r:embed="rId8">
            <a:duotone>
              <a:schemeClr val="bg2">
                <a:shade val="45000"/>
                <a:satMod val="135000"/>
              </a:schemeClr>
              <a:prstClr val="white"/>
            </a:duotone>
          </a:blip>
          <a:stretch>
            <a:fillRect/>
          </a:stretch>
        </p:blipFill>
        <p:spPr>
          <a:xfrm>
            <a:off x="822960" y="5907024"/>
            <a:ext cx="219456" cy="219456"/>
          </a:xfrm>
          <a:prstGeom prst="rect">
            <a:avLst/>
          </a:prstGeom>
        </p:spPr>
      </p:pic>
      <p:sp>
        <p:nvSpPr>
          <p:cNvPr id="35" name="Text 27"/>
          <p:cNvSpPr/>
          <p:nvPr/>
        </p:nvSpPr>
        <p:spPr>
          <a:xfrm>
            <a:off x="1298448" y="5568696"/>
            <a:ext cx="457200" cy="896112"/>
          </a:xfrm>
          <a:prstGeom prst="rect">
            <a:avLst/>
          </a:prstGeom>
          <a:noFill/>
          <a:ln/>
        </p:spPr>
        <p:txBody>
          <a:bodyPr wrap="square" lIns="0" tIns="0" rIns="0" bIns="0" rtlCol="0" anchor="ctr"/>
          <a:lstStyle/>
          <a:p>
            <a:pPr marL="0" indent="0">
              <a:buNone/>
            </a:pPr>
            <a:r>
              <a:rPr lang="en-US" sz="1600" dirty="0">
                <a:solidFill>
                  <a:srgbClr val="C8102E"/>
                </a:solidFill>
                <a:latin typeface="ADNOC Sans XBold" panose="020B0804020202020204" pitchFamily="34" charset="-78"/>
                <a:ea typeface="Cambria" pitchFamily="34" charset="-122"/>
                <a:cs typeface="ADNOC Sans XBold" panose="020B0804020202020204" pitchFamily="34" charset="-78"/>
              </a:rPr>
              <a:t>05</a:t>
            </a:r>
            <a:endParaRPr lang="en-US" sz="1600" dirty="0">
              <a:latin typeface="ADNOC Sans XBold" panose="020B0804020202020204" pitchFamily="34" charset="-78"/>
              <a:cs typeface="ADNOC Sans XBold" panose="020B0804020202020204" pitchFamily="34" charset="-78"/>
            </a:endParaRPr>
          </a:p>
        </p:txBody>
      </p:sp>
      <p:sp>
        <p:nvSpPr>
          <p:cNvPr id="36" name="Text 28"/>
          <p:cNvSpPr/>
          <p:nvPr/>
        </p:nvSpPr>
        <p:spPr>
          <a:xfrm>
            <a:off x="1810512" y="5568696"/>
            <a:ext cx="1783080" cy="896112"/>
          </a:xfrm>
          <a:prstGeom prst="rect">
            <a:avLst/>
          </a:prstGeom>
          <a:noFill/>
          <a:ln/>
        </p:spPr>
        <p:txBody>
          <a:bodyPr wrap="square" lIns="0" tIns="0" rIns="0" bIns="0" rtlCol="0" anchor="ctr"/>
          <a:lstStyle/>
          <a:p>
            <a:pPr marL="0" indent="0">
              <a:lnSpc>
                <a:spcPts val="1300"/>
              </a:lnSpc>
              <a:buNone/>
            </a:pPr>
            <a:r>
              <a:rPr lang="en-US" sz="1100" dirty="0">
                <a:solidFill>
                  <a:srgbClr val="FFFFFF"/>
                </a:solidFill>
                <a:latin typeface="ADNOC Sans XBold" panose="020B0804020202020204" pitchFamily="34" charset="-78"/>
                <a:ea typeface="Calibri" pitchFamily="34" charset="-122"/>
                <a:cs typeface="ADNOC Sans XBold" panose="020B0804020202020204" pitchFamily="34" charset="-78"/>
              </a:rPr>
              <a:t>Accuracy &amp; Consistency Check</a:t>
            </a:r>
            <a:endParaRPr lang="en-US" sz="1100" dirty="0">
              <a:latin typeface="ADNOC Sans XBold" panose="020B0804020202020204" pitchFamily="34" charset="-78"/>
              <a:cs typeface="ADNOC Sans XBold" panose="020B0804020202020204" pitchFamily="34" charset="-78"/>
            </a:endParaRPr>
          </a:p>
        </p:txBody>
      </p:sp>
      <p:sp>
        <p:nvSpPr>
          <p:cNvPr id="37" name="Text 29"/>
          <p:cNvSpPr/>
          <p:nvPr/>
        </p:nvSpPr>
        <p:spPr>
          <a:xfrm>
            <a:off x="3790188" y="5568696"/>
            <a:ext cx="3557016" cy="896112"/>
          </a:xfrm>
          <a:prstGeom prst="rect">
            <a:avLst/>
          </a:prstGeom>
          <a:noFill/>
          <a:ln/>
        </p:spPr>
        <p:txBody>
          <a:bodyPr wrap="square" lIns="0" tIns="0" rIns="0" bIns="0" rtlCol="0" anchor="ctr"/>
          <a:lstStyle/>
          <a:p>
            <a:pPr marL="0" indent="0">
              <a:lnSpc>
                <a:spcPts val="1200"/>
              </a:lnSpc>
              <a:buNone/>
            </a:pP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One source-of-truth document; technical lead sign-off before production.</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38" name="Shape 30"/>
          <p:cNvSpPr/>
          <p:nvPr/>
        </p:nvSpPr>
        <p:spPr>
          <a:xfrm>
            <a:off x="7818120" y="1691640"/>
            <a:ext cx="3867912" cy="4773168"/>
          </a:xfrm>
          <a:prstGeom prst="roundRect">
            <a:avLst>
              <a:gd name="adj" fmla="val 1418"/>
            </a:avLst>
          </a:prstGeom>
          <a:solidFill>
            <a:srgbClr val="FFFFFF"/>
          </a:solidFill>
          <a:ln/>
        </p:spPr>
      </p:sp>
      <p:pic>
        <p:nvPicPr>
          <p:cNvPr id="39" name="Image 6" descr="assets/site_model.png"/>
          <p:cNvPicPr>
            <a:picLocks noChangeAspect="1"/>
          </p:cNvPicPr>
          <p:nvPr/>
        </p:nvPicPr>
        <p:blipFill>
          <a:blip r:embed="rId9"/>
          <a:srcRect/>
          <a:stretch/>
        </p:blipFill>
        <p:spPr>
          <a:xfrm>
            <a:off x="7946136" y="1819656"/>
            <a:ext cx="3611880" cy="2959364"/>
          </a:xfrm>
          <a:prstGeom prst="rect">
            <a:avLst/>
          </a:prstGeom>
        </p:spPr>
      </p:pic>
      <p:sp>
        <p:nvSpPr>
          <p:cNvPr id="40" name="Shape 31"/>
          <p:cNvSpPr/>
          <p:nvPr/>
        </p:nvSpPr>
        <p:spPr>
          <a:xfrm>
            <a:off x="7818120" y="4841931"/>
            <a:ext cx="3867912" cy="1622877"/>
          </a:xfrm>
          <a:prstGeom prst="rect">
            <a:avLst/>
          </a:prstGeom>
          <a:solidFill>
            <a:srgbClr val="161616"/>
          </a:solidFill>
          <a:ln/>
        </p:spPr>
      </p:sp>
      <p:sp>
        <p:nvSpPr>
          <p:cNvPr id="41" name="Text 32"/>
          <p:cNvSpPr/>
          <p:nvPr/>
        </p:nvSpPr>
        <p:spPr>
          <a:xfrm>
            <a:off x="8019288" y="4969947"/>
            <a:ext cx="3465576" cy="219456"/>
          </a:xfrm>
          <a:prstGeom prst="rect">
            <a:avLst/>
          </a:prstGeom>
          <a:noFill/>
          <a:ln/>
        </p:spPr>
        <p:txBody>
          <a:bodyPr wrap="square" lIns="0" tIns="0" rIns="0" bIns="0" rtlCol="0" anchor="ctr"/>
          <a:lstStyle/>
          <a:p>
            <a:pPr marL="0" indent="0">
              <a:buNone/>
            </a:pPr>
            <a:r>
              <a:rPr lang="en-US" sz="900" kern="0" spc="100" dirty="0">
                <a:solidFill>
                  <a:srgbClr val="C8102E"/>
                </a:solidFill>
                <a:latin typeface="ADNOC Sans Medium" panose="020B0504020202020204" pitchFamily="34" charset="0"/>
                <a:ea typeface="ADNOC Sans Medium" panose="020B0504020202020204" pitchFamily="34" charset="0"/>
                <a:cs typeface="ADNOC Sans Medium" panose="020B0504020202020204" pitchFamily="34" charset="0"/>
              </a:rPr>
              <a:t>SOURCE MATERIAL</a:t>
            </a:r>
            <a:endParaRPr lang="en-US" sz="900" dirty="0">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42" name="Text 33"/>
          <p:cNvSpPr/>
          <p:nvPr/>
        </p:nvSpPr>
        <p:spPr>
          <a:xfrm>
            <a:off x="8019288" y="5225979"/>
            <a:ext cx="3465576" cy="1165677"/>
          </a:xfrm>
          <a:prstGeom prst="rect">
            <a:avLst/>
          </a:prstGeom>
          <a:noFill/>
          <a:ln/>
        </p:spPr>
        <p:txBody>
          <a:bodyPr wrap="square" lIns="0" tIns="0" rIns="0" bIns="0" rtlCol="0" anchor="t"/>
          <a:lstStyle/>
          <a:p>
            <a:pPr marL="0" indent="0">
              <a:lnSpc>
                <a:spcPts val="1250"/>
              </a:lnSpc>
              <a:buNone/>
            </a:pPr>
            <a:r>
              <a:rPr lang="en-US" sz="10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This is what gets audited in Step 01 before a single frame is designed.</a:t>
            </a:r>
            <a:endParaRPr lang="en-US" sz="1000" dirty="0">
              <a:latin typeface="ADNOC Sans Light" panose="020B0404020202020204" pitchFamily="34" charset="0"/>
              <a:ea typeface="ADNOC Sans Light" panose="020B0404020202020204" pitchFamily="34" charset="0"/>
              <a:cs typeface="ADNOC Sans Light" panose="020B04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A0A0A"/>
        </a:solidFill>
        <a:effectLst/>
      </p:bgPr>
    </p:bg>
    <p:spTree>
      <p:nvGrpSpPr>
        <p:cNvPr id="1" name=""/>
        <p:cNvGrpSpPr/>
        <p:nvPr/>
      </p:nvGrpSpPr>
      <p:grpSpPr>
        <a:xfrm>
          <a:off x="0" y="0"/>
          <a:ext cx="0" cy="0"/>
          <a:chOff x="0" y="0"/>
          <a:chExt cx="0" cy="0"/>
        </a:xfrm>
      </p:grpSpPr>
      <p:pic>
        <p:nvPicPr>
          <p:cNvPr id="2" name="Image 0" descr="assets/wsp_logo.png"/>
          <p:cNvPicPr>
            <a:picLocks noChangeAspect="1"/>
          </p:cNvPicPr>
          <p:nvPr/>
        </p:nvPicPr>
        <p:blipFill>
          <a:blip r:embed="rId3"/>
          <a:stretch>
            <a:fillRect/>
          </a:stretch>
        </p:blipFill>
        <p:spPr>
          <a:xfrm>
            <a:off x="10771632" y="365760"/>
            <a:ext cx="960120" cy="460858"/>
          </a:xfrm>
          <a:prstGeom prst="rect">
            <a:avLst/>
          </a:prstGeom>
        </p:spPr>
      </p:pic>
      <p:sp>
        <p:nvSpPr>
          <p:cNvPr id="3"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100" kern="0" spc="3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03 — AI WORKFLOW</a:t>
            </a:r>
            <a:endParaRPr lang="en-US" sz="11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4" name="Text 1"/>
          <p:cNvSpPr/>
          <p:nvPr/>
        </p:nvSpPr>
        <p:spPr>
          <a:xfrm>
            <a:off x="502920" y="621792"/>
            <a:ext cx="9966960" cy="502920"/>
          </a:xfrm>
          <a:prstGeom prst="rect">
            <a:avLst/>
          </a:prstGeom>
          <a:noFill/>
          <a:ln/>
        </p:spPr>
        <p:txBody>
          <a:bodyPr wrap="square" lIns="0" tIns="0" rIns="0" bIns="0" rtlCol="0" anchor="ctr"/>
          <a:lstStyle/>
          <a:p>
            <a:pPr marL="0" indent="0">
              <a:buNone/>
            </a:pPr>
            <a:r>
              <a:rPr lang="en-US" sz="2300" dirty="0">
                <a:solidFill>
                  <a:srgbClr val="FFFFFF"/>
                </a:solidFill>
                <a:latin typeface="ADNOC Sans XBold" panose="020B0804020202020204" pitchFamily="34" charset="-78"/>
                <a:ea typeface="Cambria" pitchFamily="34" charset="-122"/>
                <a:cs typeface="ADNOC Sans XBold" panose="020B0804020202020204" pitchFamily="34" charset="-78"/>
              </a:rPr>
              <a:t>Brief to Completion, Anchored to Real Assets</a:t>
            </a:r>
            <a:endParaRPr lang="en-US" sz="2300" dirty="0">
              <a:latin typeface="ADNOC Sans XBold" panose="020B0804020202020204" pitchFamily="34" charset="-78"/>
              <a:cs typeface="ADNOC Sans XBold" panose="020B0804020202020204" pitchFamily="34" charset="-78"/>
            </a:endParaRPr>
          </a:p>
        </p:txBody>
      </p:sp>
      <p:sp>
        <p:nvSpPr>
          <p:cNvPr id="5" name="Text 2"/>
          <p:cNvSpPr/>
          <p:nvPr/>
        </p:nvSpPr>
        <p:spPr>
          <a:xfrm>
            <a:off x="502920" y="1097280"/>
            <a:ext cx="9966960" cy="320040"/>
          </a:xfrm>
          <a:prstGeom prst="rect">
            <a:avLst/>
          </a:prstGeom>
          <a:noFill/>
          <a:ln/>
        </p:spPr>
        <p:txBody>
          <a:bodyPr wrap="square" lIns="0" tIns="0" rIns="0" bIns="0" rtlCol="0" anchor="ctr"/>
          <a:lstStyle/>
          <a:p>
            <a:pPr marL="0" indent="0">
              <a:buNone/>
            </a:pPr>
            <a:r>
              <a:rPr lang="en-US" sz="11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AI extends the real site model and renders — it never replaces them.</a:t>
            </a:r>
            <a:endParaRPr lang="en-US" sz="11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6" name="Shape 3"/>
          <p:cNvSpPr/>
          <p:nvPr/>
        </p:nvSpPr>
        <p:spPr>
          <a:xfrm>
            <a:off x="502920" y="1481328"/>
            <a:ext cx="11183112" cy="0"/>
          </a:xfrm>
          <a:prstGeom prst="line">
            <a:avLst/>
          </a:prstGeom>
          <a:noFill/>
          <a:ln w="12700">
            <a:solidFill>
              <a:srgbClr val="2A2A2A"/>
            </a:solidFill>
            <a:prstDash val="solid"/>
          </a:ln>
        </p:spPr>
      </p:sp>
      <p:sp>
        <p:nvSpPr>
          <p:cNvPr id="7" name="Text 4"/>
          <p:cNvSpPr/>
          <p:nvPr/>
        </p:nvSpPr>
        <p:spPr>
          <a:xfrm>
            <a:off x="8778240" y="6528816"/>
            <a:ext cx="2907792" cy="256032"/>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Hussein Masri</a:t>
            </a:r>
            <a:endParaRPr lang="en-US" sz="1000" dirty="0"/>
          </a:p>
        </p:txBody>
      </p:sp>
      <p:sp>
        <p:nvSpPr>
          <p:cNvPr id="8" name="Text 5"/>
          <p:cNvSpPr/>
          <p:nvPr/>
        </p:nvSpPr>
        <p:spPr>
          <a:xfrm>
            <a:off x="502920" y="1645920"/>
            <a:ext cx="5486400" cy="228600"/>
          </a:xfrm>
          <a:prstGeom prst="rect">
            <a:avLst/>
          </a:prstGeom>
          <a:noFill/>
          <a:ln/>
        </p:spPr>
        <p:txBody>
          <a:bodyPr wrap="square" lIns="0" tIns="0" rIns="0" bIns="0" rtlCol="0" anchor="ctr"/>
          <a:lstStyle/>
          <a:p>
            <a:pPr marL="0" indent="0">
              <a:buNone/>
            </a:pPr>
            <a:r>
              <a:rPr lang="en-US" sz="950" b="1" kern="0" spc="100" dirty="0">
                <a:solidFill>
                  <a:srgbClr val="8A8A8A"/>
                </a:solidFill>
                <a:latin typeface="ADNOC Sans XBold" panose="020B0804020202020204" pitchFamily="34" charset="-78"/>
                <a:ea typeface="Calibri" pitchFamily="34" charset="-122"/>
                <a:cs typeface="ADNOC Sans XBold" panose="020B0804020202020204" pitchFamily="34" charset="-78"/>
              </a:rPr>
              <a:t>TOOLS BY STAGE</a:t>
            </a:r>
            <a:endParaRPr lang="en-US" sz="950" dirty="0">
              <a:latin typeface="ADNOC Sans XBold" panose="020B0804020202020204" pitchFamily="34" charset="-78"/>
              <a:cs typeface="ADNOC Sans XBold" panose="020B0804020202020204" pitchFamily="34" charset="-78"/>
            </a:endParaRPr>
          </a:p>
        </p:txBody>
      </p:sp>
      <p:sp>
        <p:nvSpPr>
          <p:cNvPr id="9" name="Text 6"/>
          <p:cNvSpPr/>
          <p:nvPr/>
        </p:nvSpPr>
        <p:spPr>
          <a:xfrm>
            <a:off x="502920" y="1901952"/>
            <a:ext cx="2286000" cy="292608"/>
          </a:xfrm>
          <a:prstGeom prst="rect">
            <a:avLst/>
          </a:prstGeom>
          <a:noFill/>
          <a:ln/>
        </p:spPr>
        <p:txBody>
          <a:bodyPr wrap="square" lIns="0" tIns="0" rIns="0" bIns="0" rtlCol="0" anchor="ctr"/>
          <a:lstStyle/>
          <a:p>
            <a:pPr marL="0" indent="0">
              <a:buNone/>
            </a:pPr>
            <a:r>
              <a:rPr lang="en-US" sz="1000" dirty="0">
                <a:solidFill>
                  <a:srgbClr val="8A8A8A"/>
                </a:solidFill>
                <a:latin typeface="ADNOC Sans XBold" panose="020B0804020202020204" pitchFamily="34" charset="-78"/>
                <a:ea typeface="Calibri" pitchFamily="34" charset="-122"/>
                <a:cs typeface="ADNOC Sans XBold" panose="020B0804020202020204" pitchFamily="34" charset="-78"/>
              </a:rPr>
              <a:t>Ideation &amp; scripting</a:t>
            </a:r>
            <a:endParaRPr lang="en-US" sz="1000" dirty="0">
              <a:latin typeface="ADNOC Sans XBold" panose="020B0804020202020204" pitchFamily="34" charset="-78"/>
              <a:cs typeface="ADNOC Sans XBold" panose="020B0804020202020204" pitchFamily="34" charset="-78"/>
            </a:endParaRPr>
          </a:p>
        </p:txBody>
      </p:sp>
      <p:sp>
        <p:nvSpPr>
          <p:cNvPr id="10" name="Text 7"/>
          <p:cNvSpPr/>
          <p:nvPr/>
        </p:nvSpPr>
        <p:spPr>
          <a:xfrm>
            <a:off x="2788920" y="1901952"/>
            <a:ext cx="3154680" cy="292608"/>
          </a:xfrm>
          <a:prstGeom prst="rect">
            <a:avLst/>
          </a:prstGeom>
          <a:noFill/>
          <a:ln/>
        </p:spPr>
        <p:txBody>
          <a:bodyPr wrap="square" lIns="0" tIns="0" rIns="0" bIns="0" rtlCol="0" anchor="ctr"/>
          <a:lstStyle/>
          <a:p>
            <a:pPr marL="0" indent="0">
              <a:buNone/>
            </a:pPr>
            <a:r>
              <a:rPr lang="en-US" sz="1050" dirty="0">
                <a:solidFill>
                  <a:srgbClr val="FFFFFF"/>
                </a:solidFill>
                <a:latin typeface="ADNOC Sans XBold" panose="020B0804020202020204" pitchFamily="34" charset="-78"/>
                <a:ea typeface="Calibri" pitchFamily="34" charset="-122"/>
                <a:cs typeface="ADNOC Sans XBold" panose="020B0804020202020204" pitchFamily="34" charset="-78"/>
              </a:rPr>
              <a:t>ChatGPT, Claude</a:t>
            </a:r>
            <a:endParaRPr lang="en-US" sz="1050" dirty="0">
              <a:latin typeface="ADNOC Sans XBold" panose="020B0804020202020204" pitchFamily="34" charset="-78"/>
              <a:cs typeface="ADNOC Sans XBold" panose="020B0804020202020204" pitchFamily="34" charset="-78"/>
            </a:endParaRPr>
          </a:p>
        </p:txBody>
      </p:sp>
      <p:sp>
        <p:nvSpPr>
          <p:cNvPr id="11" name="Text 8"/>
          <p:cNvSpPr/>
          <p:nvPr/>
        </p:nvSpPr>
        <p:spPr>
          <a:xfrm>
            <a:off x="6245352" y="1901952"/>
            <a:ext cx="2286000" cy="292608"/>
          </a:xfrm>
          <a:prstGeom prst="rect">
            <a:avLst/>
          </a:prstGeom>
          <a:noFill/>
          <a:ln/>
        </p:spPr>
        <p:txBody>
          <a:bodyPr wrap="square" lIns="0" tIns="0" rIns="0" bIns="0" rtlCol="0" anchor="ctr"/>
          <a:lstStyle/>
          <a:p>
            <a:pPr marL="0" indent="0">
              <a:buNone/>
            </a:pPr>
            <a:r>
              <a:rPr lang="en-US" sz="1000" dirty="0">
                <a:solidFill>
                  <a:srgbClr val="8A8A8A"/>
                </a:solidFill>
                <a:latin typeface="ADNOC Sans XBold" panose="020B0804020202020204" pitchFamily="34" charset="-78"/>
                <a:ea typeface="Calibri" pitchFamily="34" charset="-122"/>
                <a:cs typeface="ADNOC Sans XBold" panose="020B0804020202020204" pitchFamily="34" charset="-78"/>
              </a:rPr>
              <a:t>Image generation</a:t>
            </a:r>
            <a:endParaRPr lang="en-US" sz="1000" dirty="0">
              <a:latin typeface="ADNOC Sans XBold" panose="020B0804020202020204" pitchFamily="34" charset="-78"/>
              <a:cs typeface="ADNOC Sans XBold" panose="020B0804020202020204" pitchFamily="34" charset="-78"/>
            </a:endParaRPr>
          </a:p>
        </p:txBody>
      </p:sp>
      <p:sp>
        <p:nvSpPr>
          <p:cNvPr id="12" name="Text 9"/>
          <p:cNvSpPr/>
          <p:nvPr/>
        </p:nvSpPr>
        <p:spPr>
          <a:xfrm>
            <a:off x="8531352" y="1901952"/>
            <a:ext cx="3154680" cy="292608"/>
          </a:xfrm>
          <a:prstGeom prst="rect">
            <a:avLst/>
          </a:prstGeom>
          <a:noFill/>
          <a:ln/>
        </p:spPr>
        <p:txBody>
          <a:bodyPr wrap="square" lIns="0" tIns="0" rIns="0" bIns="0" rtlCol="0" anchor="ctr"/>
          <a:lstStyle/>
          <a:p>
            <a:r>
              <a:rPr lang="en-US" sz="1050" b="1" dirty="0">
                <a:solidFill>
                  <a:srgbClr val="FFFFFF"/>
                </a:solidFill>
                <a:latin typeface="ADNOC Sans XBold" panose="020B0804020202020204" pitchFamily="34" charset="-78"/>
                <a:ea typeface="Calibri" pitchFamily="34" charset="-122"/>
                <a:cs typeface="ADNOC Sans XBold" panose="020B0804020202020204" pitchFamily="34" charset="-78"/>
              </a:rPr>
              <a:t>Midjourney, Adobe Firefly, </a:t>
            </a:r>
            <a:r>
              <a:rPr lang="en-US" sz="1050" b="1" dirty="0" err="1">
                <a:solidFill>
                  <a:srgbClr val="FFFFFF"/>
                </a:solidFill>
                <a:latin typeface="ADNOC Sans XBold" panose="020B0804020202020204" pitchFamily="34" charset="-78"/>
                <a:ea typeface="Calibri" pitchFamily="34" charset="-122"/>
                <a:cs typeface="ADNOC Sans XBold" panose="020B0804020202020204" pitchFamily="34" charset="-78"/>
              </a:rPr>
              <a:t>Higgsfield</a:t>
            </a:r>
            <a:endParaRPr lang="en-US" sz="1050" dirty="0">
              <a:latin typeface="ADNOC Sans XBold" panose="020B0804020202020204" pitchFamily="34" charset="-78"/>
              <a:cs typeface="ADNOC Sans XBold" panose="020B0804020202020204" pitchFamily="34" charset="-78"/>
            </a:endParaRPr>
          </a:p>
        </p:txBody>
      </p:sp>
      <p:sp>
        <p:nvSpPr>
          <p:cNvPr id="13" name="Text 10"/>
          <p:cNvSpPr/>
          <p:nvPr/>
        </p:nvSpPr>
        <p:spPr>
          <a:xfrm>
            <a:off x="502920" y="2267712"/>
            <a:ext cx="2286000" cy="292608"/>
          </a:xfrm>
          <a:prstGeom prst="rect">
            <a:avLst/>
          </a:prstGeom>
          <a:noFill/>
          <a:ln/>
        </p:spPr>
        <p:txBody>
          <a:bodyPr wrap="square" lIns="0" tIns="0" rIns="0" bIns="0" rtlCol="0" anchor="ctr"/>
          <a:lstStyle/>
          <a:p>
            <a:pPr marL="0" indent="0">
              <a:buNone/>
            </a:pPr>
            <a:r>
              <a:rPr lang="en-US" sz="1000" dirty="0">
                <a:solidFill>
                  <a:srgbClr val="8A8A8A"/>
                </a:solidFill>
                <a:latin typeface="ADNOC Sans XBold" panose="020B0804020202020204" pitchFamily="34" charset="-78"/>
                <a:ea typeface="Calibri" pitchFamily="34" charset="-122"/>
                <a:cs typeface="ADNOC Sans XBold" panose="020B0804020202020204" pitchFamily="34" charset="-78"/>
              </a:rPr>
              <a:t>Video generation</a:t>
            </a:r>
            <a:endParaRPr lang="en-US" sz="1000" dirty="0">
              <a:latin typeface="ADNOC Sans XBold" panose="020B0804020202020204" pitchFamily="34" charset="-78"/>
              <a:cs typeface="ADNOC Sans XBold" panose="020B0804020202020204" pitchFamily="34" charset="-78"/>
            </a:endParaRPr>
          </a:p>
        </p:txBody>
      </p:sp>
      <p:sp>
        <p:nvSpPr>
          <p:cNvPr id="14" name="Text 11"/>
          <p:cNvSpPr/>
          <p:nvPr/>
        </p:nvSpPr>
        <p:spPr>
          <a:xfrm>
            <a:off x="2788920" y="2267712"/>
            <a:ext cx="3154680" cy="292608"/>
          </a:xfrm>
          <a:prstGeom prst="rect">
            <a:avLst/>
          </a:prstGeom>
          <a:noFill/>
          <a:ln/>
        </p:spPr>
        <p:txBody>
          <a:bodyPr wrap="square" lIns="0" tIns="0" rIns="0" bIns="0" rtlCol="0" anchor="ctr"/>
          <a:lstStyle/>
          <a:p>
            <a:r>
              <a:rPr lang="en-US" sz="1050" dirty="0">
                <a:solidFill>
                  <a:srgbClr val="FFFFFF"/>
                </a:solidFill>
                <a:latin typeface="ADNOC Sans XBold" panose="020B0804020202020204" pitchFamily="34" charset="-78"/>
                <a:ea typeface="Calibri" pitchFamily="34" charset="-122"/>
                <a:cs typeface="ADNOC Sans XBold" panose="020B0804020202020204" pitchFamily="34" charset="-78"/>
              </a:rPr>
              <a:t>Kling, Google Flow, </a:t>
            </a:r>
            <a:r>
              <a:rPr lang="en-US" sz="1050" dirty="0" err="1">
                <a:solidFill>
                  <a:srgbClr val="FFFFFF"/>
                </a:solidFill>
                <a:latin typeface="ADNOC Sans XBold" panose="020B0804020202020204" pitchFamily="34" charset="-78"/>
                <a:ea typeface="Calibri" pitchFamily="34" charset="-122"/>
                <a:cs typeface="ADNOC Sans XBold" panose="020B0804020202020204" pitchFamily="34" charset="-78"/>
              </a:rPr>
              <a:t>Higgsfield</a:t>
            </a:r>
            <a:endParaRPr lang="en-US" sz="1050" dirty="0">
              <a:latin typeface="ADNOC Sans XBold" panose="020B0804020202020204" pitchFamily="34" charset="-78"/>
              <a:cs typeface="ADNOC Sans XBold" panose="020B0804020202020204" pitchFamily="34" charset="-78"/>
            </a:endParaRPr>
          </a:p>
        </p:txBody>
      </p:sp>
      <p:sp>
        <p:nvSpPr>
          <p:cNvPr id="15" name="Text 12"/>
          <p:cNvSpPr/>
          <p:nvPr/>
        </p:nvSpPr>
        <p:spPr>
          <a:xfrm>
            <a:off x="6245352" y="2267712"/>
            <a:ext cx="2286000" cy="292608"/>
          </a:xfrm>
          <a:prstGeom prst="rect">
            <a:avLst/>
          </a:prstGeom>
          <a:noFill/>
          <a:ln/>
        </p:spPr>
        <p:txBody>
          <a:bodyPr wrap="square" lIns="0" tIns="0" rIns="0" bIns="0" rtlCol="0" anchor="ctr"/>
          <a:lstStyle/>
          <a:p>
            <a:pPr marL="0" indent="0">
              <a:buNone/>
            </a:pPr>
            <a:r>
              <a:rPr lang="en-US" sz="1000" dirty="0">
                <a:solidFill>
                  <a:srgbClr val="8A8A8A"/>
                </a:solidFill>
                <a:latin typeface="ADNOC Sans XBold" panose="020B0804020202020204" pitchFamily="34" charset="-78"/>
                <a:ea typeface="Calibri" pitchFamily="34" charset="-122"/>
                <a:cs typeface="ADNOC Sans XBold" panose="020B0804020202020204" pitchFamily="34" charset="-78"/>
              </a:rPr>
              <a:t>Post-production</a:t>
            </a:r>
            <a:endParaRPr lang="en-US" sz="1000" dirty="0">
              <a:latin typeface="ADNOC Sans XBold" panose="020B0804020202020204" pitchFamily="34" charset="-78"/>
              <a:cs typeface="ADNOC Sans XBold" panose="020B0804020202020204" pitchFamily="34" charset="-78"/>
            </a:endParaRPr>
          </a:p>
        </p:txBody>
      </p:sp>
      <p:sp>
        <p:nvSpPr>
          <p:cNvPr id="16" name="Text 13"/>
          <p:cNvSpPr/>
          <p:nvPr/>
        </p:nvSpPr>
        <p:spPr>
          <a:xfrm>
            <a:off x="8531352" y="2267712"/>
            <a:ext cx="3154680" cy="292608"/>
          </a:xfrm>
          <a:prstGeom prst="rect">
            <a:avLst/>
          </a:prstGeom>
          <a:noFill/>
          <a:ln/>
        </p:spPr>
        <p:txBody>
          <a:bodyPr wrap="square" lIns="0" tIns="0" rIns="0" bIns="0" rtlCol="0" anchor="ctr"/>
          <a:lstStyle/>
          <a:p>
            <a:pPr marL="0" indent="0">
              <a:buNone/>
            </a:pPr>
            <a:r>
              <a:rPr lang="en-US" sz="1050" b="1" dirty="0">
                <a:solidFill>
                  <a:srgbClr val="FFFFFF"/>
                </a:solidFill>
                <a:latin typeface="ADNOC Sans XBold" panose="020B0804020202020204" pitchFamily="34" charset="-78"/>
                <a:ea typeface="Calibri" pitchFamily="34" charset="-122"/>
                <a:cs typeface="ADNOC Sans XBold" panose="020B0804020202020204" pitchFamily="34" charset="-78"/>
              </a:rPr>
              <a:t>Adobe Creative Cloud applications</a:t>
            </a:r>
            <a:endParaRPr lang="en-US" sz="1050" dirty="0">
              <a:latin typeface="ADNOC Sans XBold" panose="020B0804020202020204" pitchFamily="34" charset="-78"/>
              <a:cs typeface="ADNOC Sans XBold" panose="020B0804020202020204" pitchFamily="34" charset="-78"/>
            </a:endParaRPr>
          </a:p>
        </p:txBody>
      </p:sp>
      <p:sp>
        <p:nvSpPr>
          <p:cNvPr id="17" name="Shape 14"/>
          <p:cNvSpPr/>
          <p:nvPr/>
        </p:nvSpPr>
        <p:spPr>
          <a:xfrm>
            <a:off x="502920" y="2724912"/>
            <a:ext cx="5440680" cy="1234440"/>
          </a:xfrm>
          <a:prstGeom prst="roundRect">
            <a:avLst>
              <a:gd name="adj" fmla="val 4444"/>
            </a:avLst>
          </a:prstGeom>
          <a:solidFill>
            <a:srgbClr val="161616"/>
          </a:solidFill>
          <a:ln/>
        </p:spPr>
      </p:sp>
      <p:pic>
        <p:nvPicPr>
          <p:cNvPr id="18" name="Image 1" descr="assets/render1_small.jpg"/>
          <p:cNvPicPr>
            <a:picLocks noChangeAspect="1"/>
          </p:cNvPicPr>
          <p:nvPr/>
        </p:nvPicPr>
        <p:blipFill>
          <a:blip r:embed="rId4"/>
          <a:srcRect/>
          <a:stretch/>
        </p:blipFill>
        <p:spPr>
          <a:xfrm>
            <a:off x="731520" y="2871216"/>
            <a:ext cx="914400" cy="914400"/>
          </a:xfrm>
          <a:prstGeom prst="ellipse">
            <a:avLst/>
          </a:prstGeom>
        </p:spPr>
      </p:pic>
      <p:sp>
        <p:nvSpPr>
          <p:cNvPr id="19" name="Text 15"/>
          <p:cNvSpPr/>
          <p:nvPr/>
        </p:nvSpPr>
        <p:spPr>
          <a:xfrm>
            <a:off x="1783080" y="2871216"/>
            <a:ext cx="3977640" cy="237744"/>
          </a:xfrm>
          <a:prstGeom prst="rect">
            <a:avLst/>
          </a:prstGeom>
          <a:noFill/>
          <a:ln/>
        </p:spPr>
        <p:txBody>
          <a:bodyPr wrap="square" lIns="0" tIns="0" rIns="0" bIns="0" rtlCol="0" anchor="ctr"/>
          <a:lstStyle/>
          <a:p>
            <a:pPr marL="0" indent="0">
              <a:buNone/>
            </a:pPr>
            <a:r>
              <a:rPr lang="en-US" sz="1050" kern="0" spc="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PROMPT DEVELOPMENT</a:t>
            </a:r>
            <a:endParaRPr lang="en-US" sz="10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20" name="Text 16"/>
          <p:cNvSpPr/>
          <p:nvPr/>
        </p:nvSpPr>
        <p:spPr>
          <a:xfrm>
            <a:off x="1783080" y="3163824"/>
            <a:ext cx="3977640" cy="713232"/>
          </a:xfrm>
          <a:prstGeom prst="rect">
            <a:avLst/>
          </a:prstGeom>
          <a:noFill/>
          <a:ln/>
        </p:spPr>
        <p:txBody>
          <a:bodyPr wrap="square" lIns="0" tIns="0" rIns="0" bIns="0" rtlCol="0" anchor="t"/>
          <a:lstStyle/>
          <a:p>
            <a:pPr marL="0" indent="0">
              <a:lnSpc>
                <a:spcPts val="1250"/>
              </a:lnSpc>
              <a:buNone/>
            </a:pP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Anchored to the real render via image-to-image reference — not a blank description. Keeps output geometry and materiality consistent with the actual design.</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1" name="Shape 17"/>
          <p:cNvSpPr/>
          <p:nvPr/>
        </p:nvSpPr>
        <p:spPr>
          <a:xfrm>
            <a:off x="6126480" y="2724912"/>
            <a:ext cx="5559552" cy="1234440"/>
          </a:xfrm>
          <a:prstGeom prst="roundRect">
            <a:avLst>
              <a:gd name="adj" fmla="val 4444"/>
            </a:avLst>
          </a:prstGeom>
          <a:solidFill>
            <a:srgbClr val="161616"/>
          </a:solidFill>
          <a:ln/>
        </p:spPr>
      </p:sp>
      <p:sp>
        <p:nvSpPr>
          <p:cNvPr id="22" name="Text 18"/>
          <p:cNvSpPr/>
          <p:nvPr/>
        </p:nvSpPr>
        <p:spPr>
          <a:xfrm>
            <a:off x="6355080" y="2871216"/>
            <a:ext cx="5120640" cy="237744"/>
          </a:xfrm>
          <a:prstGeom prst="rect">
            <a:avLst/>
          </a:prstGeom>
          <a:noFill/>
          <a:ln/>
        </p:spPr>
        <p:txBody>
          <a:bodyPr wrap="square" lIns="0" tIns="0" rIns="0" bIns="0" rtlCol="0" anchor="ctr"/>
          <a:lstStyle/>
          <a:p>
            <a:pPr marL="0" indent="0">
              <a:buNone/>
            </a:pPr>
            <a:r>
              <a:rPr lang="en-US" sz="1050" kern="0" spc="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QUALITY ASSURANCE</a:t>
            </a:r>
            <a:endParaRPr lang="en-US" sz="105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23" name="Text 19"/>
          <p:cNvSpPr/>
          <p:nvPr/>
        </p:nvSpPr>
        <p:spPr>
          <a:xfrm>
            <a:off x="6355080" y="3182112"/>
            <a:ext cx="5120640" cy="685800"/>
          </a:xfrm>
          <a:prstGeom prst="rect">
            <a:avLst/>
          </a:prstGeom>
          <a:noFill/>
          <a:ln/>
        </p:spPr>
        <p:txBody>
          <a:bodyPr wrap="square" lIns="0" tIns="0" rIns="0" bIns="0" rtlCol="0" anchor="t"/>
          <a:lstStyle/>
          <a:p>
            <a:pPr marL="0" indent="0">
              <a:lnSpc>
                <a:spcPts val="1300"/>
              </a:lnSpc>
              <a:buNone/>
            </a:pPr>
            <a:r>
              <a:rPr lang="en-US" sz="95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Every generated frame is checked against the programme and site plan for factual accuracy — building count, phase order, milestone sequence — before a brand and technical-lead sign-off.</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4" name="Text 20"/>
          <p:cNvSpPr/>
          <p:nvPr/>
        </p:nvSpPr>
        <p:spPr>
          <a:xfrm>
            <a:off x="502920" y="4160520"/>
            <a:ext cx="7315200" cy="228600"/>
          </a:xfrm>
          <a:prstGeom prst="rect">
            <a:avLst/>
          </a:prstGeom>
          <a:noFill/>
          <a:ln/>
        </p:spPr>
        <p:txBody>
          <a:bodyPr wrap="square" lIns="0" tIns="0" rIns="0" bIns="0" rtlCol="0" anchor="ctr"/>
          <a:lstStyle/>
          <a:p>
            <a:pPr marL="0" indent="0">
              <a:buNone/>
            </a:pPr>
            <a:r>
              <a:rPr lang="en-US" sz="950" kern="0" spc="100" dirty="0">
                <a:solidFill>
                  <a:srgbClr val="8A8A8A"/>
                </a:solidFill>
                <a:latin typeface="ADNOC Sans XBold" panose="020B0804020202020204" pitchFamily="34" charset="-78"/>
                <a:ea typeface="Calibri" pitchFamily="34" charset="-122"/>
                <a:cs typeface="ADNOC Sans XBold" panose="020B0804020202020204" pitchFamily="34" charset="-78"/>
              </a:rPr>
              <a:t>DELIVERY WORKFLOW — BRIEF TO COMPLETION</a:t>
            </a:r>
            <a:endParaRPr lang="en-US" sz="950" dirty="0">
              <a:latin typeface="ADNOC Sans XBold" panose="020B0804020202020204" pitchFamily="34" charset="-78"/>
              <a:cs typeface="ADNOC Sans XBold" panose="020B0804020202020204" pitchFamily="34" charset="-78"/>
            </a:endParaRPr>
          </a:p>
        </p:txBody>
      </p:sp>
      <p:sp>
        <p:nvSpPr>
          <p:cNvPr id="25" name="Shape 21"/>
          <p:cNvSpPr/>
          <p:nvPr/>
        </p:nvSpPr>
        <p:spPr>
          <a:xfrm>
            <a:off x="502920" y="4434840"/>
            <a:ext cx="1944014" cy="566928"/>
          </a:xfrm>
          <a:prstGeom prst="roundRect">
            <a:avLst>
              <a:gd name="adj" fmla="val 8065"/>
            </a:avLst>
          </a:prstGeom>
          <a:solidFill>
            <a:srgbClr val="161616"/>
          </a:solidFill>
          <a:ln w="12700">
            <a:solidFill>
              <a:srgbClr val="EE3327"/>
            </a:solidFill>
            <a:prstDash val="solid"/>
          </a:ln>
        </p:spPr>
      </p:sp>
      <p:sp>
        <p:nvSpPr>
          <p:cNvPr id="26" name="Text 22"/>
          <p:cNvSpPr/>
          <p:nvPr/>
        </p:nvSpPr>
        <p:spPr>
          <a:xfrm>
            <a:off x="557784" y="4434840"/>
            <a:ext cx="1834286" cy="566928"/>
          </a:xfrm>
          <a:prstGeom prst="rect">
            <a:avLst/>
          </a:prstGeom>
          <a:noFill/>
          <a:ln/>
        </p:spPr>
        <p:txBody>
          <a:bodyPr wrap="square" lIns="0" tIns="0" rIns="0" bIns="0" rtlCol="0" anchor="ctr"/>
          <a:lstStyle/>
          <a:p>
            <a:pPr marL="0" indent="0" algn="ctr">
              <a:lnSpc>
                <a:spcPts val="1000"/>
              </a:lnSpc>
              <a:buNone/>
            </a:pPr>
            <a:r>
              <a:rPr lang="en-US" sz="850" kern="0" spc="30" dirty="0">
                <a:solidFill>
                  <a:srgbClr val="EE3327"/>
                </a:solidFill>
                <a:latin typeface="ADNOC Sans XBold" panose="020B0804020202020204" pitchFamily="34" charset="-78"/>
                <a:ea typeface="Calibri" pitchFamily="34" charset="-122"/>
                <a:cs typeface="ADNOC Sans XBold" panose="020B0804020202020204" pitchFamily="34" charset="-78"/>
              </a:rPr>
              <a:t>BRIEF &amp; SOURCE AUDIT</a:t>
            </a:r>
            <a:endParaRPr lang="en-US" sz="850" dirty="0">
              <a:solidFill>
                <a:srgbClr val="EE3327"/>
              </a:solidFill>
              <a:latin typeface="ADNOC Sans XBold" panose="020B0804020202020204" pitchFamily="34" charset="-78"/>
              <a:cs typeface="ADNOC Sans XBold" panose="020B0804020202020204" pitchFamily="34" charset="-78"/>
            </a:endParaRPr>
          </a:p>
        </p:txBody>
      </p:sp>
      <p:sp>
        <p:nvSpPr>
          <p:cNvPr id="27" name="Text 23"/>
          <p:cNvSpPr/>
          <p:nvPr/>
        </p:nvSpPr>
        <p:spPr>
          <a:xfrm>
            <a:off x="2483510" y="4434840"/>
            <a:ext cx="292608" cy="566928"/>
          </a:xfrm>
          <a:prstGeom prst="rect">
            <a:avLst/>
          </a:prstGeom>
          <a:noFill/>
          <a:ln/>
        </p:spPr>
        <p:txBody>
          <a:bodyPr wrap="square" lIns="0" tIns="0" rIns="0" bIns="0" rtlCol="0" anchor="ctr"/>
          <a:lstStyle/>
          <a:p>
            <a:pPr marL="0" indent="0" algn="ctr">
              <a:buNone/>
            </a:pPr>
            <a:r>
              <a:rPr lang="en-US" sz="1300" dirty="0">
                <a:solidFill>
                  <a:srgbClr val="8A8A8A"/>
                </a:solidFill>
                <a:latin typeface="Arial" pitchFamily="34" charset="0"/>
                <a:ea typeface="Arial" pitchFamily="34" charset="-122"/>
                <a:cs typeface="Arial" pitchFamily="34" charset="-120"/>
              </a:rPr>
              <a:t>→</a:t>
            </a:r>
            <a:endParaRPr lang="en-US" sz="1300" dirty="0"/>
          </a:p>
        </p:txBody>
      </p:sp>
      <p:sp>
        <p:nvSpPr>
          <p:cNvPr id="28" name="Shape 24"/>
          <p:cNvSpPr/>
          <p:nvPr/>
        </p:nvSpPr>
        <p:spPr>
          <a:xfrm>
            <a:off x="2812694" y="4434840"/>
            <a:ext cx="1944014" cy="566928"/>
          </a:xfrm>
          <a:prstGeom prst="roundRect">
            <a:avLst>
              <a:gd name="adj" fmla="val 8065"/>
            </a:avLst>
          </a:prstGeom>
          <a:solidFill>
            <a:srgbClr val="161616"/>
          </a:solidFill>
          <a:ln w="12700">
            <a:solidFill>
              <a:srgbClr val="EE3327"/>
            </a:solidFill>
            <a:prstDash val="solid"/>
          </a:ln>
        </p:spPr>
      </p:sp>
      <p:sp>
        <p:nvSpPr>
          <p:cNvPr id="29" name="Text 25"/>
          <p:cNvSpPr/>
          <p:nvPr/>
        </p:nvSpPr>
        <p:spPr>
          <a:xfrm>
            <a:off x="2867558" y="4434840"/>
            <a:ext cx="1834286" cy="566928"/>
          </a:xfrm>
          <a:prstGeom prst="rect">
            <a:avLst/>
          </a:prstGeom>
          <a:noFill/>
          <a:ln/>
        </p:spPr>
        <p:txBody>
          <a:bodyPr wrap="square" lIns="0" tIns="0" rIns="0" bIns="0" rtlCol="0" anchor="ctr"/>
          <a:lstStyle/>
          <a:p>
            <a:pPr marL="0" indent="0" algn="ctr">
              <a:lnSpc>
                <a:spcPts val="1000"/>
              </a:lnSpc>
              <a:buNone/>
            </a:pPr>
            <a:r>
              <a:rPr lang="en-US" sz="850" kern="0" spc="30" dirty="0">
                <a:solidFill>
                  <a:srgbClr val="EE3327"/>
                </a:solidFill>
                <a:latin typeface="ADNOC Sans XBold" panose="020B0804020202020204" pitchFamily="34" charset="-78"/>
                <a:ea typeface="Calibri" pitchFamily="34" charset="-122"/>
                <a:cs typeface="ADNOC Sans XBold" panose="020B0804020202020204" pitchFamily="34" charset="-78"/>
              </a:rPr>
              <a:t>STORYBOARD</a:t>
            </a:r>
            <a:endParaRPr lang="en-US" sz="850" dirty="0">
              <a:solidFill>
                <a:srgbClr val="EE3327"/>
              </a:solidFill>
              <a:latin typeface="ADNOC Sans XBold" panose="020B0804020202020204" pitchFamily="34" charset="-78"/>
              <a:cs typeface="ADNOC Sans XBold" panose="020B0804020202020204" pitchFamily="34" charset="-78"/>
            </a:endParaRPr>
          </a:p>
        </p:txBody>
      </p:sp>
      <p:sp>
        <p:nvSpPr>
          <p:cNvPr id="30" name="Text 26"/>
          <p:cNvSpPr/>
          <p:nvPr/>
        </p:nvSpPr>
        <p:spPr>
          <a:xfrm>
            <a:off x="4793285" y="4434840"/>
            <a:ext cx="292608" cy="566928"/>
          </a:xfrm>
          <a:prstGeom prst="rect">
            <a:avLst/>
          </a:prstGeom>
          <a:noFill/>
          <a:ln/>
        </p:spPr>
        <p:txBody>
          <a:bodyPr wrap="square" lIns="0" tIns="0" rIns="0" bIns="0" rtlCol="0" anchor="ctr"/>
          <a:lstStyle/>
          <a:p>
            <a:pPr marL="0" indent="0" algn="ctr">
              <a:buNone/>
            </a:pPr>
            <a:r>
              <a:rPr lang="en-US" sz="1300" dirty="0">
                <a:solidFill>
                  <a:srgbClr val="8A8A8A"/>
                </a:solidFill>
                <a:latin typeface="Arial" pitchFamily="34" charset="0"/>
                <a:ea typeface="Arial" pitchFamily="34" charset="-122"/>
                <a:cs typeface="Arial" pitchFamily="34" charset="-120"/>
              </a:rPr>
              <a:t>→</a:t>
            </a:r>
            <a:endParaRPr lang="en-US" sz="1300" dirty="0"/>
          </a:p>
        </p:txBody>
      </p:sp>
      <p:sp>
        <p:nvSpPr>
          <p:cNvPr id="31" name="Shape 27"/>
          <p:cNvSpPr/>
          <p:nvPr/>
        </p:nvSpPr>
        <p:spPr>
          <a:xfrm>
            <a:off x="5122469" y="4434840"/>
            <a:ext cx="1944014" cy="566928"/>
          </a:xfrm>
          <a:prstGeom prst="roundRect">
            <a:avLst>
              <a:gd name="adj" fmla="val 8065"/>
            </a:avLst>
          </a:prstGeom>
          <a:solidFill>
            <a:srgbClr val="161616"/>
          </a:solidFill>
          <a:ln w="12700">
            <a:solidFill>
              <a:srgbClr val="EE3327"/>
            </a:solidFill>
            <a:prstDash val="solid"/>
          </a:ln>
        </p:spPr>
      </p:sp>
      <p:sp>
        <p:nvSpPr>
          <p:cNvPr id="32" name="Text 28"/>
          <p:cNvSpPr/>
          <p:nvPr/>
        </p:nvSpPr>
        <p:spPr>
          <a:xfrm>
            <a:off x="5177333" y="4434840"/>
            <a:ext cx="1834286" cy="566928"/>
          </a:xfrm>
          <a:prstGeom prst="rect">
            <a:avLst/>
          </a:prstGeom>
          <a:noFill/>
          <a:ln/>
        </p:spPr>
        <p:txBody>
          <a:bodyPr wrap="square" lIns="0" tIns="0" rIns="0" bIns="0" rtlCol="0" anchor="ctr"/>
          <a:lstStyle/>
          <a:p>
            <a:pPr marL="0" indent="0" algn="ctr">
              <a:lnSpc>
                <a:spcPts val="1000"/>
              </a:lnSpc>
              <a:buNone/>
            </a:pPr>
            <a:r>
              <a:rPr lang="en-US" sz="850" kern="0" spc="30" dirty="0">
                <a:solidFill>
                  <a:srgbClr val="EE3327"/>
                </a:solidFill>
                <a:latin typeface="ADNOC Sans XBold" panose="020B0804020202020204" pitchFamily="34" charset="-78"/>
                <a:ea typeface="Calibri" pitchFamily="34" charset="-122"/>
                <a:cs typeface="ADNOC Sans XBold" panose="020B0804020202020204" pitchFamily="34" charset="-78"/>
              </a:rPr>
              <a:t>ASSET GENERATION</a:t>
            </a:r>
            <a:endParaRPr lang="en-US" sz="850" dirty="0">
              <a:solidFill>
                <a:srgbClr val="EE3327"/>
              </a:solidFill>
              <a:latin typeface="ADNOC Sans XBold" panose="020B0804020202020204" pitchFamily="34" charset="-78"/>
              <a:cs typeface="ADNOC Sans XBold" panose="020B0804020202020204" pitchFamily="34" charset="-78"/>
            </a:endParaRPr>
          </a:p>
        </p:txBody>
      </p:sp>
      <p:sp>
        <p:nvSpPr>
          <p:cNvPr id="33" name="Text 29"/>
          <p:cNvSpPr/>
          <p:nvPr/>
        </p:nvSpPr>
        <p:spPr>
          <a:xfrm>
            <a:off x="7103059" y="4434840"/>
            <a:ext cx="292608" cy="566928"/>
          </a:xfrm>
          <a:prstGeom prst="rect">
            <a:avLst/>
          </a:prstGeom>
          <a:noFill/>
          <a:ln/>
        </p:spPr>
        <p:txBody>
          <a:bodyPr wrap="square" lIns="0" tIns="0" rIns="0" bIns="0" rtlCol="0" anchor="ctr"/>
          <a:lstStyle/>
          <a:p>
            <a:pPr marL="0" indent="0" algn="ctr">
              <a:buNone/>
            </a:pPr>
            <a:r>
              <a:rPr lang="en-US" sz="1300" dirty="0">
                <a:solidFill>
                  <a:srgbClr val="8A8A8A"/>
                </a:solidFill>
                <a:latin typeface="Arial" pitchFamily="34" charset="0"/>
                <a:ea typeface="Arial" pitchFamily="34" charset="-122"/>
                <a:cs typeface="Arial" pitchFamily="34" charset="-120"/>
              </a:rPr>
              <a:t>→</a:t>
            </a:r>
            <a:endParaRPr lang="en-US" sz="1300" dirty="0"/>
          </a:p>
        </p:txBody>
      </p:sp>
      <p:sp>
        <p:nvSpPr>
          <p:cNvPr id="34" name="Shape 30"/>
          <p:cNvSpPr/>
          <p:nvPr/>
        </p:nvSpPr>
        <p:spPr>
          <a:xfrm>
            <a:off x="7432243" y="4434840"/>
            <a:ext cx="1944014" cy="566928"/>
          </a:xfrm>
          <a:prstGeom prst="roundRect">
            <a:avLst>
              <a:gd name="adj" fmla="val 8065"/>
            </a:avLst>
          </a:prstGeom>
          <a:solidFill>
            <a:srgbClr val="161616"/>
          </a:solidFill>
          <a:ln w="12700">
            <a:solidFill>
              <a:srgbClr val="EE3327"/>
            </a:solidFill>
            <a:prstDash val="solid"/>
          </a:ln>
        </p:spPr>
      </p:sp>
      <p:sp>
        <p:nvSpPr>
          <p:cNvPr id="35" name="Text 31"/>
          <p:cNvSpPr/>
          <p:nvPr/>
        </p:nvSpPr>
        <p:spPr>
          <a:xfrm>
            <a:off x="7487107" y="4434840"/>
            <a:ext cx="1834286" cy="566928"/>
          </a:xfrm>
          <a:prstGeom prst="rect">
            <a:avLst/>
          </a:prstGeom>
          <a:noFill/>
          <a:ln/>
        </p:spPr>
        <p:txBody>
          <a:bodyPr wrap="square" lIns="0" tIns="0" rIns="0" bIns="0" rtlCol="0" anchor="ctr"/>
          <a:lstStyle/>
          <a:p>
            <a:pPr marL="0" indent="0" algn="ctr">
              <a:lnSpc>
                <a:spcPts val="1000"/>
              </a:lnSpc>
              <a:buNone/>
            </a:pPr>
            <a:r>
              <a:rPr lang="en-US" sz="850" kern="0" spc="30" dirty="0">
                <a:solidFill>
                  <a:srgbClr val="EE3327"/>
                </a:solidFill>
                <a:latin typeface="ADNOC Sans XBold" panose="020B0804020202020204" pitchFamily="34" charset="-78"/>
                <a:ea typeface="Calibri" pitchFamily="34" charset="-122"/>
                <a:cs typeface="ADNOC Sans XBold" panose="020B0804020202020204" pitchFamily="34" charset="-78"/>
              </a:rPr>
              <a:t>QA (TECH + BRAND)</a:t>
            </a:r>
            <a:endParaRPr lang="en-US" sz="850" dirty="0">
              <a:solidFill>
                <a:srgbClr val="EE3327"/>
              </a:solidFill>
              <a:latin typeface="ADNOC Sans XBold" panose="020B0804020202020204" pitchFamily="34" charset="-78"/>
              <a:cs typeface="ADNOC Sans XBold" panose="020B0804020202020204" pitchFamily="34" charset="-78"/>
            </a:endParaRPr>
          </a:p>
        </p:txBody>
      </p:sp>
      <p:sp>
        <p:nvSpPr>
          <p:cNvPr id="36" name="Text 32"/>
          <p:cNvSpPr/>
          <p:nvPr/>
        </p:nvSpPr>
        <p:spPr>
          <a:xfrm>
            <a:off x="9412834" y="4434840"/>
            <a:ext cx="292608" cy="566928"/>
          </a:xfrm>
          <a:prstGeom prst="rect">
            <a:avLst/>
          </a:prstGeom>
          <a:noFill/>
          <a:ln/>
        </p:spPr>
        <p:txBody>
          <a:bodyPr wrap="square" lIns="0" tIns="0" rIns="0" bIns="0" rtlCol="0" anchor="ctr"/>
          <a:lstStyle/>
          <a:p>
            <a:pPr marL="0" indent="0" algn="ctr">
              <a:buNone/>
            </a:pPr>
            <a:r>
              <a:rPr lang="en-US" sz="1300" dirty="0">
                <a:solidFill>
                  <a:srgbClr val="8A8A8A"/>
                </a:solidFill>
                <a:latin typeface="Arial" pitchFamily="34" charset="0"/>
                <a:ea typeface="Arial" pitchFamily="34" charset="-122"/>
                <a:cs typeface="Arial" pitchFamily="34" charset="-120"/>
              </a:rPr>
              <a:t>→</a:t>
            </a:r>
            <a:endParaRPr lang="en-US" sz="1300" dirty="0"/>
          </a:p>
        </p:txBody>
      </p:sp>
      <p:sp>
        <p:nvSpPr>
          <p:cNvPr id="37" name="Shape 33"/>
          <p:cNvSpPr/>
          <p:nvPr/>
        </p:nvSpPr>
        <p:spPr>
          <a:xfrm>
            <a:off x="9742018" y="4434840"/>
            <a:ext cx="1944014" cy="566928"/>
          </a:xfrm>
          <a:prstGeom prst="roundRect">
            <a:avLst>
              <a:gd name="adj" fmla="val 8065"/>
            </a:avLst>
          </a:prstGeom>
          <a:solidFill>
            <a:srgbClr val="161616"/>
          </a:solidFill>
          <a:ln w="12700">
            <a:solidFill>
              <a:srgbClr val="00B050"/>
            </a:solidFill>
            <a:prstDash val="solid"/>
          </a:ln>
        </p:spPr>
      </p:sp>
      <p:sp>
        <p:nvSpPr>
          <p:cNvPr id="38" name="Text 34"/>
          <p:cNvSpPr/>
          <p:nvPr/>
        </p:nvSpPr>
        <p:spPr>
          <a:xfrm>
            <a:off x="9796882" y="4434840"/>
            <a:ext cx="1834286" cy="566928"/>
          </a:xfrm>
          <a:prstGeom prst="rect">
            <a:avLst/>
          </a:prstGeom>
          <a:noFill/>
          <a:ln/>
        </p:spPr>
        <p:txBody>
          <a:bodyPr wrap="square" lIns="0" tIns="0" rIns="0" bIns="0" rtlCol="0" anchor="ctr"/>
          <a:lstStyle/>
          <a:p>
            <a:pPr marL="0" indent="0" algn="ctr">
              <a:lnSpc>
                <a:spcPts val="1000"/>
              </a:lnSpc>
              <a:buNone/>
            </a:pPr>
            <a:r>
              <a:rPr lang="en-US" sz="850" kern="0" spc="30" dirty="0">
                <a:solidFill>
                  <a:srgbClr val="00B050"/>
                </a:solidFill>
                <a:latin typeface="ADNOC Sans XBold" panose="020B0804020202020204" pitchFamily="34" charset="-78"/>
                <a:ea typeface="Calibri" pitchFamily="34" charset="-122"/>
                <a:cs typeface="ADNOC Sans XBold" panose="020B0804020202020204" pitchFamily="34" charset="-78"/>
              </a:rPr>
              <a:t>FINAL DELIVERY</a:t>
            </a:r>
            <a:endParaRPr lang="en-US" sz="850" dirty="0">
              <a:solidFill>
                <a:srgbClr val="00B050"/>
              </a:solidFill>
              <a:latin typeface="ADNOC Sans XBold" panose="020B0804020202020204" pitchFamily="34" charset="-78"/>
              <a:cs typeface="ADNOC Sans XBold" panose="020B0804020202020204" pitchFamily="34" charset="-78"/>
            </a:endParaRPr>
          </a:p>
        </p:txBody>
      </p:sp>
      <p:sp>
        <p:nvSpPr>
          <p:cNvPr id="39" name="Text 35"/>
          <p:cNvSpPr/>
          <p:nvPr/>
        </p:nvSpPr>
        <p:spPr>
          <a:xfrm>
            <a:off x="502920" y="5451549"/>
            <a:ext cx="5852160" cy="502920"/>
          </a:xfrm>
          <a:prstGeom prst="rect">
            <a:avLst/>
          </a:prstGeom>
          <a:noFill/>
          <a:ln/>
        </p:spPr>
        <p:txBody>
          <a:bodyPr wrap="square" lIns="0" tIns="0" rIns="0" bIns="0" rtlCol="0" anchor="ctr"/>
          <a:lstStyle/>
          <a:p>
            <a:pPr marL="0" indent="0">
              <a:lnSpc>
                <a:spcPts val="1250"/>
              </a:lnSpc>
              <a:buNone/>
            </a:pPr>
            <a:r>
              <a:rPr lang="en-US" sz="950" i="1" dirty="0">
                <a:solidFill>
                  <a:srgbClr val="8A8A8A"/>
                </a:solidFill>
                <a:latin typeface="ADNOC Sans Light" panose="020B0404020202020204" pitchFamily="34" charset="0"/>
                <a:ea typeface="ADNOC Sans Light" panose="020B0404020202020204" pitchFamily="34" charset="0"/>
                <a:cs typeface="ADNOC Sans Light" panose="020B0404020202020204" pitchFamily="34" charset="0"/>
              </a:rPr>
              <a:t>Typical duration: 5-7 working days from brief to final delivery, depending on programme complexity.</a:t>
            </a:r>
            <a:endParaRPr lang="en-US" sz="9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40" name="Text 36"/>
          <p:cNvSpPr/>
          <p:nvPr/>
        </p:nvSpPr>
        <p:spPr>
          <a:xfrm>
            <a:off x="6537960" y="5120640"/>
            <a:ext cx="5166360" cy="219456"/>
          </a:xfrm>
          <a:prstGeom prst="rect">
            <a:avLst/>
          </a:prstGeom>
          <a:noFill/>
          <a:ln/>
        </p:spPr>
        <p:txBody>
          <a:bodyPr wrap="square" lIns="0" tIns="0" rIns="0" bIns="0" rtlCol="0" anchor="ctr"/>
          <a:lstStyle/>
          <a:p>
            <a:pPr marL="0" indent="0">
              <a:buNone/>
            </a:pPr>
            <a:r>
              <a:rPr lang="en-US" sz="850" b="1" kern="0" spc="50" dirty="0">
                <a:solidFill>
                  <a:srgbClr val="8A8A8A"/>
                </a:solidFill>
                <a:latin typeface="Calibri" pitchFamily="34" charset="0"/>
                <a:ea typeface="Calibri" pitchFamily="34" charset="-122"/>
                <a:cs typeface="Calibri" pitchFamily="34" charset="-120"/>
              </a:rPr>
              <a:t>PROVEN EXECUTION  —  FRAMES FROM THE DELIVERED WSP FILM (ASSIGNMENT 1)</a:t>
            </a:r>
            <a:endParaRPr lang="en-US" sz="850" dirty="0"/>
          </a:p>
        </p:txBody>
      </p:sp>
      <p:pic>
        <p:nvPicPr>
          <p:cNvPr id="41" name="Image 2" descr="assets/film_frame1.jpg"/>
          <p:cNvPicPr>
            <a:picLocks noChangeAspect="1"/>
          </p:cNvPicPr>
          <p:nvPr/>
        </p:nvPicPr>
        <p:blipFill>
          <a:blip r:embed="rId5"/>
          <a:srcRect/>
          <a:stretch/>
        </p:blipFill>
        <p:spPr>
          <a:xfrm>
            <a:off x="6537960" y="5376672"/>
            <a:ext cx="2468880" cy="914400"/>
          </a:xfrm>
          <a:prstGeom prst="rect">
            <a:avLst/>
          </a:prstGeom>
          <a:ln>
            <a:solidFill>
              <a:srgbClr val="EE3327"/>
            </a:solidFill>
          </a:ln>
        </p:spPr>
      </p:pic>
      <p:pic>
        <p:nvPicPr>
          <p:cNvPr id="42" name="Image 3" descr="assets/film_frame2.jpg"/>
          <p:cNvPicPr>
            <a:picLocks noChangeAspect="1"/>
          </p:cNvPicPr>
          <p:nvPr/>
        </p:nvPicPr>
        <p:blipFill>
          <a:blip r:embed="rId6"/>
          <a:srcRect/>
          <a:stretch/>
        </p:blipFill>
        <p:spPr>
          <a:xfrm>
            <a:off x="9144000" y="5376672"/>
            <a:ext cx="2468880" cy="914400"/>
          </a:xfrm>
          <a:prstGeom prst="rect">
            <a:avLst/>
          </a:prstGeom>
          <a:ln>
            <a:solidFill>
              <a:srgbClr val="EE3327"/>
            </a:solidFill>
          </a:ln>
        </p:spPr>
      </p:pic>
      <p:sp>
        <p:nvSpPr>
          <p:cNvPr id="43" name="Shape 37"/>
          <p:cNvSpPr/>
          <p:nvPr/>
        </p:nvSpPr>
        <p:spPr>
          <a:xfrm>
            <a:off x="6537960" y="5376672"/>
            <a:ext cx="2468880" cy="914400"/>
          </a:xfrm>
          <a:prstGeom prst="roundRect">
            <a:avLst>
              <a:gd name="adj" fmla="val 4000"/>
            </a:avLst>
          </a:prstGeom>
          <a:ln w="12700">
            <a:solidFill>
              <a:srgbClr val="C8102E"/>
            </a:solidFill>
            <a:prstDash val="solid"/>
          </a:ln>
        </p:spPr>
      </p:sp>
      <p:sp>
        <p:nvSpPr>
          <p:cNvPr id="44" name="Shape 38"/>
          <p:cNvSpPr/>
          <p:nvPr/>
        </p:nvSpPr>
        <p:spPr>
          <a:xfrm>
            <a:off x="9144000" y="5376672"/>
            <a:ext cx="2468880" cy="914400"/>
          </a:xfrm>
          <a:prstGeom prst="roundRect">
            <a:avLst>
              <a:gd name="adj" fmla="val 4000"/>
            </a:avLst>
          </a:prstGeom>
          <a:ln w="12700">
            <a:solidFill>
              <a:srgbClr val="C8102E"/>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A0A0A"/>
        </a:solidFill>
        <a:effectLst/>
      </p:bgPr>
    </p:bg>
    <p:spTree>
      <p:nvGrpSpPr>
        <p:cNvPr id="1" name=""/>
        <p:cNvGrpSpPr/>
        <p:nvPr/>
      </p:nvGrpSpPr>
      <p:grpSpPr>
        <a:xfrm>
          <a:off x="0" y="0"/>
          <a:ext cx="0" cy="0"/>
          <a:chOff x="0" y="0"/>
          <a:chExt cx="0" cy="0"/>
        </a:xfrm>
      </p:grpSpPr>
      <p:pic>
        <p:nvPicPr>
          <p:cNvPr id="2" name="Image 0" descr="assets/site_plan_small.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0A0A0A">
              <a:alpha val="88000"/>
            </a:srgbClr>
          </a:solidFill>
          <a:ln/>
        </p:spPr>
      </p:sp>
      <p:pic>
        <p:nvPicPr>
          <p:cNvPr id="4" name="Image 1" descr="assets/wsp_logo.png"/>
          <p:cNvPicPr>
            <a:picLocks noChangeAspect="1"/>
          </p:cNvPicPr>
          <p:nvPr/>
        </p:nvPicPr>
        <p:blipFill>
          <a:blip r:embed="rId4"/>
          <a:stretch>
            <a:fillRect/>
          </a:stretch>
        </p:blipFill>
        <p:spPr>
          <a:xfrm>
            <a:off x="10771632" y="365760"/>
            <a:ext cx="960120" cy="460858"/>
          </a:xfrm>
          <a:prstGeom prst="rect">
            <a:avLst/>
          </a:prstGeom>
        </p:spPr>
      </p:pic>
      <p:sp>
        <p:nvSpPr>
          <p:cNvPr id="5" name="Text 1"/>
          <p:cNvSpPr/>
          <p:nvPr/>
        </p:nvSpPr>
        <p:spPr>
          <a:xfrm>
            <a:off x="502920" y="365760"/>
            <a:ext cx="8229600" cy="274320"/>
          </a:xfrm>
          <a:prstGeom prst="rect">
            <a:avLst/>
          </a:prstGeom>
          <a:noFill/>
          <a:ln/>
        </p:spPr>
        <p:txBody>
          <a:bodyPr wrap="square" lIns="0" tIns="0" rIns="0" bIns="0" rtlCol="0" anchor="ctr"/>
          <a:lstStyle/>
          <a:p>
            <a:pPr marL="0" indent="0">
              <a:buNone/>
            </a:pPr>
            <a:r>
              <a:rPr lang="en-US" sz="1100" kern="0" spc="3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rPr>
              <a:t>04 — SCALABILITY</a:t>
            </a:r>
            <a:endParaRPr lang="en-US" sz="1100" dirty="0">
              <a:solidFill>
                <a:srgbClr val="EE3327"/>
              </a:solidFill>
              <a:latin typeface="ADNOC Sans Medium" panose="020B0504020202020204" pitchFamily="34" charset="0"/>
              <a:ea typeface="ADNOC Sans Medium" panose="020B0504020202020204" pitchFamily="34" charset="0"/>
              <a:cs typeface="ADNOC Sans Medium" panose="020B0504020202020204" pitchFamily="34" charset="0"/>
            </a:endParaRPr>
          </a:p>
        </p:txBody>
      </p:sp>
      <p:sp>
        <p:nvSpPr>
          <p:cNvPr id="6" name="Text 2"/>
          <p:cNvSpPr/>
          <p:nvPr/>
        </p:nvSpPr>
        <p:spPr>
          <a:xfrm>
            <a:off x="502920" y="621792"/>
            <a:ext cx="9966960" cy="502920"/>
          </a:xfrm>
          <a:prstGeom prst="rect">
            <a:avLst/>
          </a:prstGeom>
          <a:noFill/>
          <a:ln/>
        </p:spPr>
        <p:txBody>
          <a:bodyPr wrap="square" lIns="0" tIns="0" rIns="0" bIns="0" rtlCol="0" anchor="ctr"/>
          <a:lstStyle/>
          <a:p>
            <a:pPr marL="0" indent="0">
              <a:buNone/>
            </a:pPr>
            <a:r>
              <a:rPr lang="en-US" sz="2300" dirty="0">
                <a:solidFill>
                  <a:srgbClr val="FFFFFF"/>
                </a:solidFill>
                <a:latin typeface="ADNOC Sans XBold" panose="020B0804020202020204" pitchFamily="34" charset="-78"/>
                <a:ea typeface="Cambria" pitchFamily="34" charset="-122"/>
                <a:cs typeface="ADNOC Sans XBold" panose="020B0804020202020204" pitchFamily="34" charset="-78"/>
              </a:rPr>
              <a:t>One Methodology, Applied Across Every Project</a:t>
            </a:r>
            <a:endParaRPr lang="en-US" sz="2300" dirty="0">
              <a:latin typeface="ADNOC Sans XBold" panose="020B0804020202020204" pitchFamily="34" charset="-78"/>
              <a:cs typeface="ADNOC Sans XBold" panose="020B0804020202020204" pitchFamily="34" charset="-78"/>
            </a:endParaRPr>
          </a:p>
        </p:txBody>
      </p:sp>
      <p:sp>
        <p:nvSpPr>
          <p:cNvPr id="7" name="Text 3"/>
          <p:cNvSpPr/>
          <p:nvPr/>
        </p:nvSpPr>
        <p:spPr>
          <a:xfrm>
            <a:off x="502920" y="1097280"/>
            <a:ext cx="9966960" cy="320040"/>
          </a:xfrm>
          <a:prstGeom prst="rect">
            <a:avLst/>
          </a:prstGeom>
          <a:noFill/>
          <a:ln/>
        </p:spPr>
        <p:txBody>
          <a:bodyPr wrap="square" lIns="0" tIns="0" rIns="0" bIns="0" rtlCol="0" anchor="ctr"/>
          <a:lstStyle/>
          <a:p>
            <a:pPr marL="0" indent="0">
              <a:buNone/>
            </a:pPr>
            <a:r>
              <a:rPr lang="en-US" sz="1150" dirty="0">
                <a:solidFill>
                  <a:srgbClr val="E8E8E8"/>
                </a:solidFill>
                <a:latin typeface="ADNOC Sans Light" panose="020B0404020202020204" pitchFamily="34" charset="0"/>
                <a:ea typeface="ADNOC Sans Light" panose="020B0404020202020204" pitchFamily="34" charset="0"/>
                <a:cs typeface="ADNOC Sans Light" panose="020B0404020202020204" pitchFamily="34" charset="0"/>
              </a:rPr>
              <a:t>Standardised where it should be; flexible where the project demands it.</a:t>
            </a:r>
            <a:endParaRPr lang="en-US" sz="115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8" name="Shape 4"/>
          <p:cNvSpPr/>
          <p:nvPr/>
        </p:nvSpPr>
        <p:spPr>
          <a:xfrm>
            <a:off x="502920" y="1481328"/>
            <a:ext cx="11183112" cy="0"/>
          </a:xfrm>
          <a:prstGeom prst="line">
            <a:avLst/>
          </a:prstGeom>
          <a:noFill/>
          <a:ln w="12700">
            <a:solidFill>
              <a:srgbClr val="2A2A2A"/>
            </a:solidFill>
            <a:prstDash val="solid"/>
          </a:ln>
        </p:spPr>
      </p:sp>
      <p:sp>
        <p:nvSpPr>
          <p:cNvPr id="9" name="Text 5"/>
          <p:cNvSpPr/>
          <p:nvPr/>
        </p:nvSpPr>
        <p:spPr>
          <a:xfrm>
            <a:off x="8778240" y="6528816"/>
            <a:ext cx="2907792" cy="256032"/>
          </a:xfrm>
          <a:prstGeom prst="rect">
            <a:avLst/>
          </a:prstGeom>
          <a:noFill/>
          <a:ln/>
        </p:spPr>
        <p:txBody>
          <a:bodyPr wrap="square" lIns="0" tIns="0" rIns="0" bIns="0" rtlCol="0" anchor="ctr"/>
          <a:lstStyle/>
          <a:p>
            <a:pPr marL="0" indent="0" algn="r">
              <a:buNone/>
            </a:pPr>
            <a:r>
              <a:rPr lang="en-US" sz="1000" dirty="0">
                <a:solidFill>
                  <a:srgbClr val="D8D8D8"/>
                </a:solidFill>
                <a:latin typeface="Calibri" pitchFamily="34" charset="0"/>
                <a:ea typeface="Calibri" pitchFamily="34" charset="-122"/>
                <a:cs typeface="Calibri" pitchFamily="34" charset="-120"/>
              </a:rPr>
              <a:t>Hussein Masri</a:t>
            </a:r>
            <a:endParaRPr lang="en-US" sz="1000" dirty="0"/>
          </a:p>
        </p:txBody>
      </p:sp>
      <p:sp>
        <p:nvSpPr>
          <p:cNvPr id="10" name="Shape 6"/>
          <p:cNvSpPr/>
          <p:nvPr/>
        </p:nvSpPr>
        <p:spPr>
          <a:xfrm>
            <a:off x="502920" y="1691640"/>
            <a:ext cx="5454396" cy="1828800"/>
          </a:xfrm>
          <a:prstGeom prst="roundRect">
            <a:avLst>
              <a:gd name="adj" fmla="val 3000"/>
            </a:avLst>
          </a:prstGeom>
          <a:solidFill>
            <a:srgbClr val="161616"/>
          </a:solidFill>
          <a:ln/>
        </p:spPr>
      </p:sp>
      <p:sp>
        <p:nvSpPr>
          <p:cNvPr id="11" name="Shape 7"/>
          <p:cNvSpPr/>
          <p:nvPr/>
        </p:nvSpPr>
        <p:spPr>
          <a:xfrm>
            <a:off x="758952" y="1911096"/>
            <a:ext cx="457200" cy="457200"/>
          </a:xfrm>
          <a:prstGeom prst="ellipse">
            <a:avLst/>
          </a:prstGeom>
          <a:solidFill>
            <a:srgbClr val="1F1F1F"/>
          </a:solidFill>
          <a:ln/>
        </p:spPr>
      </p:sp>
      <p:pic>
        <p:nvPicPr>
          <p:cNvPr id="12" name="Image 2" descr="assets/icon_template.png"/>
          <p:cNvPicPr>
            <a:picLocks noChangeAspect="1"/>
          </p:cNvPicPr>
          <p:nvPr/>
        </p:nvPicPr>
        <p:blipFill>
          <a:blip r:embed="rId5">
            <a:duotone>
              <a:schemeClr val="bg2">
                <a:shade val="45000"/>
                <a:satMod val="135000"/>
              </a:schemeClr>
              <a:prstClr val="white"/>
            </a:duotone>
          </a:blip>
          <a:stretch>
            <a:fillRect/>
          </a:stretch>
        </p:blipFill>
        <p:spPr>
          <a:xfrm>
            <a:off x="868680" y="2020824"/>
            <a:ext cx="237744" cy="237744"/>
          </a:xfrm>
          <a:prstGeom prst="rect">
            <a:avLst/>
          </a:prstGeom>
        </p:spPr>
      </p:pic>
      <p:sp>
        <p:nvSpPr>
          <p:cNvPr id="13" name="Text 8"/>
          <p:cNvSpPr/>
          <p:nvPr/>
        </p:nvSpPr>
        <p:spPr>
          <a:xfrm>
            <a:off x="1371600" y="1911096"/>
            <a:ext cx="4357116" cy="502920"/>
          </a:xfrm>
          <a:prstGeom prst="rect">
            <a:avLst/>
          </a:prstGeom>
          <a:noFill/>
          <a:ln/>
        </p:spPr>
        <p:txBody>
          <a:bodyPr wrap="square" lIns="0" tIns="0" rIns="0" bIns="0" rtlCol="0" anchor="ctr"/>
          <a:lstStyle/>
          <a:p>
            <a:pPr marL="0" indent="0">
              <a:lnSpc>
                <a:spcPts val="1600"/>
              </a:lnSpc>
              <a:buNone/>
            </a:pPr>
            <a:r>
              <a:rPr lang="en-US" sz="1350" dirty="0">
                <a:solidFill>
                  <a:srgbClr val="FFFFFF"/>
                </a:solidFill>
                <a:latin typeface="ADNOC Sans XBold" panose="020B0804020202020204" pitchFamily="34" charset="-78"/>
                <a:ea typeface="Cambria" pitchFamily="34" charset="-122"/>
                <a:cs typeface="ADNOC Sans XBold" panose="020B0804020202020204" pitchFamily="34" charset="-78"/>
              </a:rPr>
              <a:t>Reusable Story Template</a:t>
            </a:r>
            <a:endParaRPr lang="en-US" sz="1350" dirty="0">
              <a:latin typeface="ADNOC Sans XBold" panose="020B0804020202020204" pitchFamily="34" charset="-78"/>
              <a:cs typeface="ADNOC Sans XBold" panose="020B0804020202020204" pitchFamily="34" charset="-78"/>
            </a:endParaRPr>
          </a:p>
        </p:txBody>
      </p:sp>
      <p:sp>
        <p:nvSpPr>
          <p:cNvPr id="14" name="Text 9"/>
          <p:cNvSpPr/>
          <p:nvPr/>
        </p:nvSpPr>
        <p:spPr>
          <a:xfrm>
            <a:off x="758952" y="2514600"/>
            <a:ext cx="4942332" cy="822960"/>
          </a:xfrm>
          <a:prstGeom prst="rect">
            <a:avLst/>
          </a:prstGeom>
          <a:noFill/>
          <a:ln/>
        </p:spPr>
        <p:txBody>
          <a:bodyPr wrap="square" lIns="0" tIns="0" rIns="0" bIns="0" rtlCol="0" anchor="t"/>
          <a:lstStyle/>
          <a:p>
            <a:pPr marL="0" indent="0">
              <a:lnSpc>
                <a:spcPts val="1400"/>
              </a:lnSpc>
              <a:buNone/>
            </a:pPr>
            <a:r>
              <a:rPr lang="en-US" sz="11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A fixed act structure (Site </a:t>
            </a:r>
            <a:r>
              <a:rPr lang="en-US" sz="1100" dirty="0">
                <a:solidFill>
                  <a:srgbClr val="EE3327"/>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11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Structure </a:t>
            </a:r>
            <a:r>
              <a:rPr lang="en-US" sz="1100" dirty="0">
                <a:solidFill>
                  <a:srgbClr val="EE3327"/>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11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System </a:t>
            </a:r>
            <a:r>
              <a:rPr lang="en-US" sz="1100" dirty="0">
                <a:solidFill>
                  <a:srgbClr val="EE3327"/>
                </a:solidFill>
                <a:latin typeface="ADNOC Sans Light" panose="020B0404020202020204" pitchFamily="34" charset="0"/>
                <a:ea typeface="ADNOC Sans Light" panose="020B0404020202020204" pitchFamily="34" charset="0"/>
                <a:cs typeface="ADNOC Sans Light" panose="020B0404020202020204" pitchFamily="34" charset="0"/>
              </a:rPr>
              <a:t>→</a:t>
            </a:r>
            <a:r>
              <a:rPr lang="en-US" sz="11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 Service) with swappable content for a new project, same narrative skeleton.</a:t>
            </a:r>
            <a:endParaRPr lang="en-US" sz="110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15" name="Shape 10"/>
          <p:cNvSpPr/>
          <p:nvPr/>
        </p:nvSpPr>
        <p:spPr>
          <a:xfrm>
            <a:off x="6231636" y="1691640"/>
            <a:ext cx="5454396" cy="1828800"/>
          </a:xfrm>
          <a:prstGeom prst="roundRect">
            <a:avLst>
              <a:gd name="adj" fmla="val 3000"/>
            </a:avLst>
          </a:prstGeom>
          <a:solidFill>
            <a:srgbClr val="161616"/>
          </a:solidFill>
          <a:ln/>
        </p:spPr>
      </p:sp>
      <p:sp>
        <p:nvSpPr>
          <p:cNvPr id="16" name="Shape 11"/>
          <p:cNvSpPr/>
          <p:nvPr/>
        </p:nvSpPr>
        <p:spPr>
          <a:xfrm>
            <a:off x="6487668" y="1911096"/>
            <a:ext cx="457200" cy="457200"/>
          </a:xfrm>
          <a:prstGeom prst="ellipse">
            <a:avLst/>
          </a:prstGeom>
          <a:solidFill>
            <a:srgbClr val="1F1F1F"/>
          </a:solidFill>
          <a:ln/>
        </p:spPr>
      </p:sp>
      <p:pic>
        <p:nvPicPr>
          <p:cNvPr id="17" name="Image 3" descr="assets/icon_tag.png"/>
          <p:cNvPicPr>
            <a:picLocks noChangeAspect="1"/>
          </p:cNvPicPr>
          <p:nvPr/>
        </p:nvPicPr>
        <p:blipFill>
          <a:blip r:embed="rId6">
            <a:duotone>
              <a:schemeClr val="bg2">
                <a:shade val="45000"/>
                <a:satMod val="135000"/>
              </a:schemeClr>
              <a:prstClr val="white"/>
            </a:duotone>
          </a:blip>
          <a:stretch>
            <a:fillRect/>
          </a:stretch>
        </p:blipFill>
        <p:spPr>
          <a:xfrm>
            <a:off x="6597396" y="2020824"/>
            <a:ext cx="237744" cy="237744"/>
          </a:xfrm>
          <a:prstGeom prst="rect">
            <a:avLst/>
          </a:prstGeom>
        </p:spPr>
      </p:pic>
      <p:sp>
        <p:nvSpPr>
          <p:cNvPr id="18" name="Text 12"/>
          <p:cNvSpPr/>
          <p:nvPr/>
        </p:nvSpPr>
        <p:spPr>
          <a:xfrm>
            <a:off x="7100316" y="1911096"/>
            <a:ext cx="4357116" cy="502920"/>
          </a:xfrm>
          <a:prstGeom prst="rect">
            <a:avLst/>
          </a:prstGeom>
          <a:noFill/>
          <a:ln/>
        </p:spPr>
        <p:txBody>
          <a:bodyPr wrap="square" lIns="0" tIns="0" rIns="0" bIns="0" rtlCol="0" anchor="ctr"/>
          <a:lstStyle/>
          <a:p>
            <a:pPr marL="0" indent="0">
              <a:lnSpc>
                <a:spcPts val="1600"/>
              </a:lnSpc>
              <a:buNone/>
            </a:pPr>
            <a:r>
              <a:rPr lang="en-US" sz="1350" dirty="0">
                <a:solidFill>
                  <a:srgbClr val="FFFFFF"/>
                </a:solidFill>
                <a:latin typeface="ADNOC Sans XBold" panose="020B0804020202020204" pitchFamily="34" charset="-78"/>
                <a:ea typeface="Cambria" pitchFamily="34" charset="-122"/>
                <a:cs typeface="ADNOC Sans XBold" panose="020B0804020202020204" pitchFamily="34" charset="-78"/>
              </a:rPr>
              <a:t>Standardised Milestone Language</a:t>
            </a:r>
            <a:endParaRPr lang="en-US" sz="1350" dirty="0">
              <a:latin typeface="ADNOC Sans XBold" panose="020B0804020202020204" pitchFamily="34" charset="-78"/>
              <a:cs typeface="ADNOC Sans XBold" panose="020B0804020202020204" pitchFamily="34" charset="-78"/>
            </a:endParaRPr>
          </a:p>
        </p:txBody>
      </p:sp>
      <p:sp>
        <p:nvSpPr>
          <p:cNvPr id="19" name="Text 13"/>
          <p:cNvSpPr/>
          <p:nvPr/>
        </p:nvSpPr>
        <p:spPr>
          <a:xfrm>
            <a:off x="6487668" y="2514600"/>
            <a:ext cx="4942332" cy="822960"/>
          </a:xfrm>
          <a:prstGeom prst="rect">
            <a:avLst/>
          </a:prstGeom>
          <a:noFill/>
          <a:ln/>
        </p:spPr>
        <p:txBody>
          <a:bodyPr wrap="square" lIns="0" tIns="0" rIns="0" bIns="0" rtlCol="0" anchor="t"/>
          <a:lstStyle/>
          <a:p>
            <a:pPr marL="0" indent="0">
              <a:lnSpc>
                <a:spcPts val="1400"/>
              </a:lnSpc>
              <a:buNone/>
            </a:pPr>
            <a:r>
              <a:rPr lang="en-US" sz="11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One icon and terminology set for Power On, RFS, T&amp;C &amp; Handover consistent across every project type, not reinvented per brief.</a:t>
            </a:r>
            <a:endParaRPr lang="en-US" sz="110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0" name="Shape 14"/>
          <p:cNvSpPr/>
          <p:nvPr/>
        </p:nvSpPr>
        <p:spPr>
          <a:xfrm>
            <a:off x="502920" y="3749040"/>
            <a:ext cx="5454396" cy="1828800"/>
          </a:xfrm>
          <a:prstGeom prst="roundRect">
            <a:avLst>
              <a:gd name="adj" fmla="val 3000"/>
            </a:avLst>
          </a:prstGeom>
          <a:solidFill>
            <a:srgbClr val="161616"/>
          </a:solidFill>
          <a:ln/>
        </p:spPr>
      </p:sp>
      <p:sp>
        <p:nvSpPr>
          <p:cNvPr id="21" name="Shape 15"/>
          <p:cNvSpPr/>
          <p:nvPr/>
        </p:nvSpPr>
        <p:spPr>
          <a:xfrm>
            <a:off x="758952" y="3968496"/>
            <a:ext cx="457200" cy="457200"/>
          </a:xfrm>
          <a:prstGeom prst="ellipse">
            <a:avLst/>
          </a:prstGeom>
          <a:solidFill>
            <a:srgbClr val="1F1F1F"/>
          </a:solidFill>
          <a:ln/>
        </p:spPr>
      </p:sp>
      <p:pic>
        <p:nvPicPr>
          <p:cNvPr id="22" name="Image 4" descr="assets/icon_pipeline.png"/>
          <p:cNvPicPr>
            <a:picLocks noChangeAspect="1"/>
          </p:cNvPicPr>
          <p:nvPr/>
        </p:nvPicPr>
        <p:blipFill>
          <a:blip r:embed="rId7">
            <a:duotone>
              <a:schemeClr val="bg2">
                <a:shade val="45000"/>
                <a:satMod val="135000"/>
              </a:schemeClr>
              <a:prstClr val="white"/>
            </a:duotone>
          </a:blip>
          <a:stretch>
            <a:fillRect/>
          </a:stretch>
        </p:blipFill>
        <p:spPr>
          <a:xfrm>
            <a:off x="868680" y="4078224"/>
            <a:ext cx="237744" cy="237744"/>
          </a:xfrm>
          <a:prstGeom prst="rect">
            <a:avLst/>
          </a:prstGeom>
        </p:spPr>
      </p:pic>
      <p:sp>
        <p:nvSpPr>
          <p:cNvPr id="23" name="Text 16"/>
          <p:cNvSpPr/>
          <p:nvPr/>
        </p:nvSpPr>
        <p:spPr>
          <a:xfrm>
            <a:off x="1371600" y="3968496"/>
            <a:ext cx="4357116" cy="502920"/>
          </a:xfrm>
          <a:prstGeom prst="rect">
            <a:avLst/>
          </a:prstGeom>
          <a:noFill/>
          <a:ln/>
        </p:spPr>
        <p:txBody>
          <a:bodyPr wrap="square" lIns="0" tIns="0" rIns="0" bIns="0" rtlCol="0" anchor="ctr"/>
          <a:lstStyle/>
          <a:p>
            <a:pPr marL="0" indent="0">
              <a:lnSpc>
                <a:spcPts val="1600"/>
              </a:lnSpc>
              <a:buNone/>
            </a:pPr>
            <a:r>
              <a:rPr lang="en-US" sz="1350" dirty="0">
                <a:solidFill>
                  <a:srgbClr val="FFFFFF"/>
                </a:solidFill>
                <a:latin typeface="ADNOC Sans XBold" panose="020B0804020202020204" pitchFamily="34" charset="-78"/>
                <a:ea typeface="Cambria" pitchFamily="34" charset="-122"/>
                <a:cs typeface="ADNOC Sans XBold" panose="020B0804020202020204" pitchFamily="34" charset="-78"/>
              </a:rPr>
              <a:t>Templatised AI Pipeline</a:t>
            </a:r>
            <a:endParaRPr lang="en-US" sz="1350" dirty="0">
              <a:latin typeface="ADNOC Sans XBold" panose="020B0804020202020204" pitchFamily="34" charset="-78"/>
              <a:cs typeface="ADNOC Sans XBold" panose="020B0804020202020204" pitchFamily="34" charset="-78"/>
            </a:endParaRPr>
          </a:p>
        </p:txBody>
      </p:sp>
      <p:sp>
        <p:nvSpPr>
          <p:cNvPr id="24" name="Text 17"/>
          <p:cNvSpPr/>
          <p:nvPr/>
        </p:nvSpPr>
        <p:spPr>
          <a:xfrm>
            <a:off x="758952" y="4572000"/>
            <a:ext cx="4942332" cy="822960"/>
          </a:xfrm>
          <a:prstGeom prst="rect">
            <a:avLst/>
          </a:prstGeom>
          <a:noFill/>
          <a:ln/>
        </p:spPr>
        <p:txBody>
          <a:bodyPr wrap="square" lIns="0" tIns="0" rIns="0" bIns="0" rtlCol="0" anchor="t"/>
          <a:lstStyle/>
          <a:p>
            <a:pPr marL="0" indent="0">
              <a:lnSpc>
                <a:spcPts val="1400"/>
              </a:lnSpc>
              <a:buNone/>
            </a:pPr>
            <a:r>
              <a:rPr lang="en-US" sz="11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Reusable prompt structures and reference-anchoring workflow cut per-project production time without cutting quality.</a:t>
            </a:r>
            <a:endParaRPr lang="en-US" sz="110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25" name="Shape 18"/>
          <p:cNvSpPr/>
          <p:nvPr/>
        </p:nvSpPr>
        <p:spPr>
          <a:xfrm>
            <a:off x="6231636" y="3749040"/>
            <a:ext cx="5454396" cy="1828800"/>
          </a:xfrm>
          <a:prstGeom prst="roundRect">
            <a:avLst>
              <a:gd name="adj" fmla="val 3000"/>
            </a:avLst>
          </a:prstGeom>
          <a:solidFill>
            <a:srgbClr val="161616"/>
          </a:solidFill>
          <a:ln/>
        </p:spPr>
      </p:sp>
      <p:sp>
        <p:nvSpPr>
          <p:cNvPr id="26" name="Shape 19"/>
          <p:cNvSpPr/>
          <p:nvPr/>
        </p:nvSpPr>
        <p:spPr>
          <a:xfrm>
            <a:off x="6487668" y="3968496"/>
            <a:ext cx="457200" cy="457200"/>
          </a:xfrm>
          <a:prstGeom prst="ellipse">
            <a:avLst/>
          </a:prstGeom>
          <a:solidFill>
            <a:srgbClr val="1F1F1F"/>
          </a:solidFill>
          <a:ln/>
        </p:spPr>
      </p:sp>
      <p:pic>
        <p:nvPicPr>
          <p:cNvPr id="27" name="Image 5" descr="assets/icon_governance.png"/>
          <p:cNvPicPr>
            <a:picLocks noChangeAspect="1"/>
          </p:cNvPicPr>
          <p:nvPr/>
        </p:nvPicPr>
        <p:blipFill>
          <a:blip r:embed="rId8">
            <a:duotone>
              <a:schemeClr val="bg2">
                <a:shade val="45000"/>
                <a:satMod val="135000"/>
              </a:schemeClr>
              <a:prstClr val="white"/>
            </a:duotone>
          </a:blip>
          <a:stretch>
            <a:fillRect/>
          </a:stretch>
        </p:blipFill>
        <p:spPr>
          <a:xfrm>
            <a:off x="6597396" y="4078224"/>
            <a:ext cx="237744" cy="237744"/>
          </a:xfrm>
          <a:prstGeom prst="rect">
            <a:avLst/>
          </a:prstGeom>
        </p:spPr>
      </p:pic>
      <p:sp>
        <p:nvSpPr>
          <p:cNvPr id="28" name="Text 20"/>
          <p:cNvSpPr/>
          <p:nvPr/>
        </p:nvSpPr>
        <p:spPr>
          <a:xfrm>
            <a:off x="7100316" y="3968496"/>
            <a:ext cx="4357116" cy="502920"/>
          </a:xfrm>
          <a:prstGeom prst="rect">
            <a:avLst/>
          </a:prstGeom>
          <a:noFill/>
          <a:ln/>
        </p:spPr>
        <p:txBody>
          <a:bodyPr wrap="square" lIns="0" tIns="0" rIns="0" bIns="0" rtlCol="0" anchor="ctr"/>
          <a:lstStyle/>
          <a:p>
            <a:pPr marL="0" indent="0">
              <a:lnSpc>
                <a:spcPts val="1600"/>
              </a:lnSpc>
              <a:buNone/>
            </a:pPr>
            <a:r>
              <a:rPr lang="en-US" sz="1350" dirty="0">
                <a:solidFill>
                  <a:srgbClr val="FFFFFF"/>
                </a:solidFill>
                <a:latin typeface="ADNOC Sans XBold" panose="020B0804020202020204" pitchFamily="34" charset="-78"/>
                <a:ea typeface="Cambria" pitchFamily="34" charset="-122"/>
                <a:cs typeface="ADNOC Sans XBold" panose="020B0804020202020204" pitchFamily="34" charset="-78"/>
              </a:rPr>
              <a:t>Shared Brand &amp; QA Governance</a:t>
            </a:r>
            <a:endParaRPr lang="en-US" sz="1350" dirty="0">
              <a:latin typeface="ADNOC Sans XBold" panose="020B0804020202020204" pitchFamily="34" charset="-78"/>
              <a:cs typeface="ADNOC Sans XBold" panose="020B0804020202020204" pitchFamily="34" charset="-78"/>
            </a:endParaRPr>
          </a:p>
        </p:txBody>
      </p:sp>
      <p:sp>
        <p:nvSpPr>
          <p:cNvPr id="29" name="Text 21"/>
          <p:cNvSpPr/>
          <p:nvPr/>
        </p:nvSpPr>
        <p:spPr>
          <a:xfrm>
            <a:off x="6487668" y="4572000"/>
            <a:ext cx="4942332" cy="822960"/>
          </a:xfrm>
          <a:prstGeom prst="rect">
            <a:avLst/>
          </a:prstGeom>
          <a:noFill/>
          <a:ln/>
        </p:spPr>
        <p:txBody>
          <a:bodyPr wrap="square" lIns="0" tIns="0" rIns="0" bIns="0" rtlCol="0" anchor="t"/>
          <a:lstStyle/>
          <a:p>
            <a:pPr marL="0" indent="0">
              <a:lnSpc>
                <a:spcPts val="1400"/>
              </a:lnSpc>
              <a:buNone/>
            </a:pPr>
            <a:r>
              <a:rPr lang="en-US" sz="1100" dirty="0">
                <a:solidFill>
                  <a:srgbClr val="B8B8B8"/>
                </a:solidFill>
                <a:latin typeface="ADNOC Sans Light" panose="020B0404020202020204" pitchFamily="34" charset="0"/>
                <a:ea typeface="ADNOC Sans Light" panose="020B0404020202020204" pitchFamily="34" charset="0"/>
                <a:cs typeface="ADNOC Sans Light" panose="020B0404020202020204" pitchFamily="34" charset="0"/>
              </a:rPr>
              <a:t>Same sign-off gate and visual system on every output connects directly to the AI Creative Lab model proposed in Assignment 1.</a:t>
            </a:r>
            <a:endParaRPr lang="en-US" sz="1100" dirty="0">
              <a:latin typeface="ADNOC Sans Light" panose="020B0404020202020204" pitchFamily="34" charset="0"/>
              <a:ea typeface="ADNOC Sans Light" panose="020B0404020202020204" pitchFamily="34" charset="0"/>
              <a:cs typeface="ADNOC Sans Light" panose="020B0404020202020204" pitchFamily="34" charset="0"/>
            </a:endParaRPr>
          </a:p>
        </p:txBody>
      </p:sp>
      <p:sp>
        <p:nvSpPr>
          <p:cNvPr id="30" name="Text 22"/>
          <p:cNvSpPr/>
          <p:nvPr/>
        </p:nvSpPr>
        <p:spPr>
          <a:xfrm>
            <a:off x="502920" y="5806440"/>
            <a:ext cx="11155680" cy="457200"/>
          </a:xfrm>
          <a:prstGeom prst="rect">
            <a:avLst/>
          </a:prstGeom>
          <a:noFill/>
          <a:ln/>
        </p:spPr>
        <p:txBody>
          <a:bodyPr wrap="square" lIns="0" tIns="0" rIns="0" bIns="0" rtlCol="0" anchor="ctr"/>
          <a:lstStyle/>
          <a:p>
            <a:pPr marL="0" indent="0">
              <a:buNone/>
            </a:pPr>
            <a:r>
              <a:rPr lang="en-US" sz="1100" b="1" i="1" dirty="0">
                <a:solidFill>
                  <a:srgbClr val="EE3327"/>
                </a:solidFill>
                <a:latin typeface="Calibri" pitchFamily="34" charset="0"/>
                <a:ea typeface="Calibri" pitchFamily="34" charset="-122"/>
                <a:cs typeface="Calibri" pitchFamily="34" charset="-120"/>
              </a:rPr>
              <a:t>The goal is not a one-off film — it is a repeatable system that turns any project's programme and design assets into an executive-ready visual story, at consistent quality and speed.</a:t>
            </a:r>
            <a:endParaRPr lang="en-US" sz="1100" dirty="0">
              <a:solidFill>
                <a:srgbClr val="EE3327"/>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pic>
        <p:nvPicPr>
          <p:cNvPr id="2" name="Image 0" descr="wsp_logo.png"/>
          <p:cNvPicPr>
            <a:picLocks noChangeAspect="1"/>
          </p:cNvPicPr>
          <p:nvPr/>
        </p:nvPicPr>
        <p:blipFill>
          <a:blip r:embed="rId3"/>
          <a:stretch>
            <a:fillRect/>
          </a:stretch>
        </p:blipFill>
        <p:spPr>
          <a:xfrm>
            <a:off x="5317236" y="2743200"/>
            <a:ext cx="1554480" cy="746150"/>
          </a:xfrm>
          <a:prstGeom prst="rect">
            <a:avLst/>
          </a:prstGeom>
        </p:spPr>
      </p:pic>
      <p:sp>
        <p:nvSpPr>
          <p:cNvPr id="3" name="Text 0"/>
          <p:cNvSpPr/>
          <p:nvPr/>
        </p:nvSpPr>
        <p:spPr>
          <a:xfrm>
            <a:off x="0" y="3703320"/>
            <a:ext cx="1218895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lumMod val="75000"/>
                    <a:lumOff val="25000"/>
                  </a:prstClr>
                </a:solidFill>
                <a:effectLst/>
                <a:uLnTx/>
                <a:uFillTx/>
                <a:latin typeface="ADNOC Sans XBold" panose="020B0804020202020204" pitchFamily="34" charset="-78"/>
                <a:ea typeface="Calibri" pitchFamily="34" charset="-122"/>
                <a:cs typeface="ADNOC Sans XBold" panose="020B0804020202020204" pitchFamily="34" charset="-78"/>
              </a:rPr>
              <a:t>THANK YOU</a:t>
            </a:r>
            <a:endParaRPr kumimoji="0" lang="en-US" sz="2200" b="0" i="0" u="none" strike="noStrike" kern="1200" cap="none" spc="0" normalizeH="0" baseline="0" noProof="0" dirty="0">
              <a:ln>
                <a:noFill/>
              </a:ln>
              <a:solidFill>
                <a:prstClr val="black">
                  <a:lumMod val="75000"/>
                  <a:lumOff val="25000"/>
                </a:prstClr>
              </a:solidFill>
              <a:effectLst/>
              <a:uLnTx/>
              <a:uFillTx/>
              <a:latin typeface="ADNOC Sans XBold" panose="020B0804020202020204" pitchFamily="34" charset="-78"/>
              <a:ea typeface="+mn-ea"/>
              <a:cs typeface="ADNOC Sans XBold" panose="020B0804020202020204" pitchFamily="34" charset="-7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738</Words>
  <Application>Microsoft Office PowerPoint</Application>
  <PresentationFormat>Widescreen</PresentationFormat>
  <Paragraphs>109</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ADNOC Sans Light</vt:lpstr>
      <vt:lpstr>ADNOC Sans Medium</vt:lpstr>
      <vt:lpstr>ADNOC Sans XBold</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Hussein Masri</cp:lastModifiedBy>
  <cp:revision>4</cp:revision>
  <dcterms:created xsi:type="dcterms:W3CDTF">2026-08-11T17:59:54Z</dcterms:created>
  <dcterms:modified xsi:type="dcterms:W3CDTF">2026-08-11T19:19:02Z</dcterms:modified>
</cp:coreProperties>
</file>