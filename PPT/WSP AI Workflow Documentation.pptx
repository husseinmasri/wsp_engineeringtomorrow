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8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1F8-B952-EC22-1853-1E2A1E06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F7B16-C9DB-2C44-E2A8-4142401D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B11D-94F4-7212-0180-28B75830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DE99-2A23-97AD-F649-FB4046EB4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7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0AC78-1CD1-5DA2-385D-B6794955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D45DD3E-9EAD-E3C8-E95F-D973C5F4B650}"/>
              </a:ext>
            </a:extLst>
          </p:cNvPr>
          <p:cNvSpPr/>
          <p:nvPr/>
        </p:nvSpPr>
        <p:spPr>
          <a:xfrm>
            <a:off x="1112520" y="2679365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WSP AI WORKFLOW DOCUMENTATION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DNOC Sans XBold" panose="020B0804020202020204" pitchFamily="34" charset="-78"/>
              <a:ea typeface="Cambria" pitchFamily="34" charset="-122"/>
              <a:cs typeface="ADNOC Sans XBold" panose="020B0804020202020204" pitchFamily="34" charset="-78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06F08C54-562B-3107-25B4-53D0A95360B4}"/>
              </a:ext>
            </a:extLst>
          </p:cNvPr>
          <p:cNvSpPr/>
          <p:nvPr/>
        </p:nvSpPr>
        <p:spPr>
          <a:xfrm>
            <a:off x="1112520" y="345056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Tomorrow </a:t>
            </a:r>
            <a:r>
              <a:rPr kumimoji="0" lang="ar-AE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|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AI-Assisted Brand Film Concept for WSP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27" name="Image 0" descr="wsp_logo.png">
            <a:extLst>
              <a:ext uri="{FF2B5EF4-FFF2-40B4-BE49-F238E27FC236}">
                <a16:creationId xmlns:a16="http://schemas.microsoft.com/office/drawing/2014/main" id="{228FB97B-C1B9-C71F-048A-DD34D883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1119295"/>
            <a:ext cx="1554480" cy="74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8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WORKFLOW DOCUMENTATION</a:t>
            </a:r>
            <a:endParaRPr lang="en-US" sz="1100" dirty="0">
              <a:solidFill>
                <a:srgbClr val="C8102E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TOOLS BY PRODUCTION STAGE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338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Fifteen tools mapped to the five stages of production — not used interchangeably, but chosen for what each stage requires.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572768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8" name="Text 5"/>
          <p:cNvSpPr/>
          <p:nvPr/>
        </p:nvSpPr>
        <p:spPr>
          <a:xfrm>
            <a:off x="731520" y="17830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01</a:t>
            </a:r>
            <a:endParaRPr lang="en-US" sz="20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17320" y="17830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IDEATION &amp; CONCEPT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94760" y="178308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ChatGPT, Claude</a:t>
            </a:r>
          </a:p>
        </p:txBody>
      </p:sp>
      <p:sp>
        <p:nvSpPr>
          <p:cNvPr id="11" name="Text 8"/>
          <p:cNvSpPr/>
          <p:nvPr/>
        </p:nvSpPr>
        <p:spPr>
          <a:xfrm>
            <a:off x="7955280" y="1783080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development, script structuring, prompt engineering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" y="2715768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3" name="Text 10"/>
          <p:cNvSpPr/>
          <p:nvPr/>
        </p:nvSpPr>
        <p:spPr>
          <a:xfrm>
            <a:off x="731520" y="271576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02</a:t>
            </a:r>
            <a:endParaRPr lang="en-US" sz="20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17320" y="271576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IMAGE GENERATION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94760" y="271576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Midjourney, Adobe Firefly, Flux, Nano Banana Pro</a:t>
            </a:r>
          </a:p>
        </p:txBody>
      </p:sp>
      <p:sp>
        <p:nvSpPr>
          <p:cNvPr id="16" name="Text 13"/>
          <p:cNvSpPr/>
          <p:nvPr/>
        </p:nvSpPr>
        <p:spPr>
          <a:xfrm>
            <a:off x="7955280" y="2715768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stills and key visual references for each scene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2920" y="3648456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8" name="Text 15"/>
          <p:cNvSpPr/>
          <p:nvPr/>
        </p:nvSpPr>
        <p:spPr>
          <a:xfrm>
            <a:off x="731520" y="364845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03</a:t>
            </a:r>
            <a:endParaRPr lang="en-US" sz="20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17320" y="3648456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IMAGE ENHANCEMENT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94760" y="364845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Magnific</a:t>
            </a:r>
          </a:p>
        </p:txBody>
      </p:sp>
      <p:sp>
        <p:nvSpPr>
          <p:cNvPr id="21" name="Text 18"/>
          <p:cNvSpPr/>
          <p:nvPr/>
        </p:nvSpPr>
        <p:spPr>
          <a:xfrm>
            <a:off x="7955280" y="3648456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Upscaling and detail refinement before animation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2920" y="4581144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23" name="Text 20"/>
          <p:cNvSpPr/>
          <p:nvPr/>
        </p:nvSpPr>
        <p:spPr>
          <a:xfrm>
            <a:off x="731520" y="458114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04</a:t>
            </a:r>
            <a:endParaRPr lang="en-US" sz="20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417320" y="458114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VIDEO GENERATION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94760" y="458114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Kling, Sora, Higgsfield, Google Flow, Google Labs</a:t>
            </a:r>
          </a:p>
        </p:txBody>
      </p:sp>
      <p:sp>
        <p:nvSpPr>
          <p:cNvPr id="26" name="Text 23"/>
          <p:cNvSpPr/>
          <p:nvPr/>
        </p:nvSpPr>
        <p:spPr>
          <a:xfrm>
            <a:off x="7955280" y="4581144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Image-to-video animation, camera movement, motion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02920" y="5513832"/>
            <a:ext cx="11183112" cy="841248"/>
          </a:xfrm>
          <a:prstGeom prst="roundRect">
            <a:avLst>
              <a:gd name="adj" fmla="val 5435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28" name="Text 25"/>
          <p:cNvSpPr/>
          <p:nvPr/>
        </p:nvSpPr>
        <p:spPr>
          <a:xfrm>
            <a:off x="731520" y="551383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05</a:t>
            </a:r>
            <a:endParaRPr lang="en-US" sz="20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417320" y="5513832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POST-PRODUCTION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794760" y="551383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Adobe Premiere Pro, After Effects, Photoshop, Illustrator</a:t>
            </a:r>
          </a:p>
        </p:txBody>
      </p:sp>
      <p:sp>
        <p:nvSpPr>
          <p:cNvPr id="31" name="Text 28"/>
          <p:cNvSpPr/>
          <p:nvPr/>
        </p:nvSpPr>
        <p:spPr>
          <a:xfrm>
            <a:off x="7955280" y="5513832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Editing, compositing, color grading, sound, final assembly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33F9ABAA-AF6C-7016-7930-99B5EACF41C4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35">
            <a:extLst>
              <a:ext uri="{FF2B5EF4-FFF2-40B4-BE49-F238E27FC236}">
                <a16:creationId xmlns:a16="http://schemas.microsoft.com/office/drawing/2014/main" id="{B684D21A-7BCD-69B3-C6DE-36A1E0C06105}"/>
              </a:ext>
            </a:extLst>
          </p:cNvPr>
          <p:cNvSpPr/>
          <p:nvPr/>
        </p:nvSpPr>
        <p:spPr>
          <a:xfrm>
            <a:off x="6217920" y="3856979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8F35E554-98DB-EDB0-EC14-1B99D1E1EF55}"/>
              </a:ext>
            </a:extLst>
          </p:cNvPr>
          <p:cNvSpPr/>
          <p:nvPr/>
        </p:nvSpPr>
        <p:spPr>
          <a:xfrm>
            <a:off x="6217920" y="4087734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EF6B983E-7699-032B-0A6D-0B4FCD970A3B}"/>
              </a:ext>
            </a:extLst>
          </p:cNvPr>
          <p:cNvSpPr/>
          <p:nvPr/>
        </p:nvSpPr>
        <p:spPr>
          <a:xfrm>
            <a:off x="6217920" y="4318489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51" name="Shape 35">
            <a:extLst>
              <a:ext uri="{FF2B5EF4-FFF2-40B4-BE49-F238E27FC236}">
                <a16:creationId xmlns:a16="http://schemas.microsoft.com/office/drawing/2014/main" id="{C4E7DCF1-A740-90ED-8969-40DF954B4477}"/>
              </a:ext>
            </a:extLst>
          </p:cNvPr>
          <p:cNvSpPr/>
          <p:nvPr/>
        </p:nvSpPr>
        <p:spPr>
          <a:xfrm>
            <a:off x="6217920" y="4549244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0CB959A6-D37E-85C1-AA25-134F42B914AC}"/>
              </a:ext>
            </a:extLst>
          </p:cNvPr>
          <p:cNvSpPr/>
          <p:nvPr/>
        </p:nvSpPr>
        <p:spPr>
          <a:xfrm>
            <a:off x="502920" y="3856979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F17B176A-47DE-DD26-CF1E-2615A9579C13}"/>
              </a:ext>
            </a:extLst>
          </p:cNvPr>
          <p:cNvSpPr/>
          <p:nvPr/>
        </p:nvSpPr>
        <p:spPr>
          <a:xfrm>
            <a:off x="502920" y="4087734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B70A2E49-85B7-9A4D-918E-041C2C5926E1}"/>
              </a:ext>
            </a:extLst>
          </p:cNvPr>
          <p:cNvSpPr/>
          <p:nvPr/>
        </p:nvSpPr>
        <p:spPr>
          <a:xfrm>
            <a:off x="502920" y="4318489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E4C7C415-308A-E782-BC54-60A91BA7575B}"/>
              </a:ext>
            </a:extLst>
          </p:cNvPr>
          <p:cNvSpPr/>
          <p:nvPr/>
        </p:nvSpPr>
        <p:spPr>
          <a:xfrm>
            <a:off x="502920" y="4549244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6BCF0902-2157-4BB6-35C9-DE3DCB05A2E4}"/>
              </a:ext>
            </a:extLst>
          </p:cNvPr>
          <p:cNvSpPr/>
          <p:nvPr/>
        </p:nvSpPr>
        <p:spPr>
          <a:xfrm>
            <a:off x="502920" y="4779997"/>
            <a:ext cx="5486400" cy="20056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  <a:prstDash val="solid"/>
          </a:ln>
        </p:spPr>
      </p:sp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WORKFLOW DOCUMENTATION</a:t>
            </a:r>
            <a:endParaRPr lang="en-US" sz="1100" dirty="0">
              <a:solidFill>
                <a:srgbClr val="C8102E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TIMELINE, COST &amp; SCALABILITY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338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Total production time: 3 working days, concept to final delivery.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572768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8" name="Text 5"/>
          <p:cNvSpPr/>
          <p:nvPr/>
        </p:nvSpPr>
        <p:spPr>
          <a:xfrm>
            <a:off x="731520" y="1920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DAY 1</a:t>
            </a:r>
            <a:endParaRPr lang="en-US" sz="12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Concept &amp; Pre-Visualization</a:t>
            </a:r>
            <a:endParaRPr lang="en-US" sz="14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Script &amp; concept (ChatGPT, Claude) — Storyboard — Image generation &amp; selection (Midjourney, Firefly, Flux, Nano Banana Pro) — Upscaling (Magnific)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06824" y="17373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2" name="Text 9"/>
          <p:cNvSpPr/>
          <p:nvPr/>
        </p:nvSpPr>
        <p:spPr>
          <a:xfrm>
            <a:off x="4535424" y="1920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DAY 2</a:t>
            </a:r>
            <a:endParaRPr lang="en-US" sz="12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35424" y="22402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Video Generation</a:t>
            </a:r>
            <a:endParaRPr lang="en-US" sz="14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35424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Image-to-video animation and iteration across scenes (Kling, Sora, Higgsfield, Google Flow, Google Labs) — Take selection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10728" y="17373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6" name="Text 13"/>
          <p:cNvSpPr/>
          <p:nvPr/>
        </p:nvSpPr>
        <p:spPr>
          <a:xfrm>
            <a:off x="8339328" y="1920240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DAY 3</a:t>
            </a:r>
            <a:endParaRPr lang="en-US" sz="12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339328" y="22402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Post-Production &amp; Documentation</a:t>
            </a:r>
            <a:endParaRPr lang="en-US" sz="14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339328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Edit, motion graphics, color grade, sound (Premiere Pro, After Effects, Photoshop) — Final QA — Workflow &amp; Lab documentation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35949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ESTIMATED TOOL COST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3400" y="3874318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ChatGPT Plus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892040" y="3874318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$20/mo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3400" y="4084176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Claude Pro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92040" y="4084176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$20/mo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33400" y="4315040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Midjourney (Basic)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92040" y="4315040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$10/mo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3400" y="4543985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Adobe Firefly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892040" y="4543985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$10/mo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33400" y="4768689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Kling AI (Standard)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92040" y="4768689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$10/mo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263640" y="3874264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Higgsfield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629900" y="3874264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~$20/mo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63640" y="4084176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Magnific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629900" y="4084176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~$15/mo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63640" y="4333260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Google AI Pro (Flow / Labs)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629900" y="4333260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$20/mo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263640" y="4533946"/>
            <a:ext cx="44805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Adobe Creative Cloud (Premiere, AE, Photoshop)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629900" y="4533946"/>
            <a:ext cx="9144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$60/mo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2920" y="5185338"/>
            <a:ext cx="11183112" cy="420624"/>
          </a:xfrm>
          <a:prstGeom prst="roundRect">
            <a:avLst>
              <a:gd name="adj" fmla="val 13043"/>
            </a:avLst>
          </a:prstGeom>
          <a:solidFill>
            <a:srgbClr val="161616"/>
          </a:solidFill>
          <a:ln w="3175">
            <a:solidFill>
              <a:srgbClr val="C8102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" y="518533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kern="0" spc="30" dirty="0">
                <a:solidFill>
                  <a:srgbClr val="C8102E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~$185/mo at full published rates.  </a:t>
            </a: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This reflects one designer holding every listed subscription simultaneously; most were </a:t>
            </a:r>
            <a:r>
              <a:rPr lang="ar-AE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already active</a:t>
            </a: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tools, and public pricing may vary by region/tier. Actual incremental cost for one assignment is lower.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02920" y="5729061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SCALING THIS WITHIN WSP</a:t>
            </a:r>
            <a:endParaRPr lang="en-US" sz="105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02920" y="58293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shared subscription pool (not per-designer) cuts the effective cost per project well below this figure. Reusable prompt templates and a shot-type library shorten Day 1 significantly on repeat briefs, and the same 3-day pipeline scales to bids, leadership content, and internal campaigns without new tooling.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BBF1C3BF-E034-489D-1F63-C1ADECE4D9B0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wsp_logo.png">
            <a:extLst>
              <a:ext uri="{FF2B5EF4-FFF2-40B4-BE49-F238E27FC236}">
                <a16:creationId xmlns:a16="http://schemas.microsoft.com/office/drawing/2014/main" id="{BCA01FD5-64BB-BF92-347D-F69252F4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2743200"/>
            <a:ext cx="1554480" cy="74615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AA20E89-B25E-873E-0480-FCF20F916E15}"/>
              </a:ext>
            </a:extLst>
          </p:cNvPr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THANK YOU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432</Words>
  <Application>Microsoft Office PowerPoint</Application>
  <PresentationFormat>Widescreen</PresentationFormat>
  <Paragraphs>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ADNOC Sans Medium</vt:lpstr>
      <vt:lpstr>ADNOC Sans XBold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Hussein Masri</cp:lastModifiedBy>
  <cp:revision>5</cp:revision>
  <dcterms:created xsi:type="dcterms:W3CDTF">2026-08-06T19:24:19Z</dcterms:created>
  <dcterms:modified xsi:type="dcterms:W3CDTF">2026-08-06T20:37:26Z</dcterms:modified>
</cp:coreProperties>
</file>