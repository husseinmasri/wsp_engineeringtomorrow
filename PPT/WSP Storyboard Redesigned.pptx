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33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72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365760"/>
            <a:ext cx="960120" cy="4608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94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EE3327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STORYBOARD</a:t>
            </a:r>
            <a:endParaRPr lang="en-US" sz="1400" dirty="0">
              <a:solidFill>
                <a:srgbClr val="EE3327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40080" y="96012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60-SECOND WSP PROMOTIONAL FILM</a:t>
            </a:r>
            <a:endParaRPr lang="en-US" sz="40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7739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Engineering Tomorrow </a:t>
            </a:r>
            <a:r>
              <a:rPr lang="ar-AE" sz="1600" dirty="0">
                <a:solidFill>
                  <a:srgbClr val="FF0000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|</a:t>
            </a:r>
            <a:r>
              <a:rPr lang="en-US" sz="16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 AI-Assisted Brand Film Concept for WSP</a:t>
            </a:r>
            <a:endParaRPr lang="en-US" sz="16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1090879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651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01</a:t>
            </a:r>
            <a:r>
              <a:rPr lang="en-US" sz="1300" kern="0" spc="200" dirty="0">
                <a:solidFill>
                  <a:srgbClr val="C8102E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  </a:t>
            </a:r>
            <a:r>
              <a:rPr lang="en-US" sz="1300" kern="0" spc="2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PROJECT OBJECTIVE</a:t>
            </a:r>
            <a:endParaRPr lang="en-US" sz="13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 cinematic 60-second concept demonstrating how engineering, advisory expertise, and AI-enabled production come together to communicate WSP's vision of shaping sustainable communities and resilient infrastructure.</a:t>
            </a:r>
            <a:endParaRPr lang="en-US" sz="12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63640" y="2651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02</a:t>
            </a:r>
            <a:r>
              <a:rPr lang="en-US" sz="1300" kern="0" spc="200" dirty="0">
                <a:solidFill>
                  <a:srgbClr val="C8102E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  </a:t>
            </a:r>
            <a:r>
              <a:rPr lang="en-US" sz="1300" kern="0" spc="2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CREATIVE APPROACH</a:t>
            </a:r>
            <a:endParaRPr lang="en-US" sz="13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63640" y="30632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Authentic engineering storytelling meets AI-assisted production. Every scene is chosen to visually reinforce its voice-over line, with AI applied strategically to accelerate production and visualise complex engineering ideas while keeping the film human-centred.</a:t>
            </a:r>
            <a:endParaRPr lang="en-US" sz="12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0080" y="6437376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Generated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240280" y="64373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244144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Enhanced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771900" y="6437376"/>
            <a:ext cx="109728" cy="109728"/>
          </a:xfrm>
          <a:prstGeom prst="ellipse">
            <a:avLst/>
          </a:prstGeom>
          <a:solidFill>
            <a:srgbClr val="B8B8B8"/>
          </a:solidFill>
          <a:ln/>
        </p:spPr>
      </p:sp>
      <p:sp>
        <p:nvSpPr>
          <p:cNvPr id="16" name="Text 13"/>
          <p:cNvSpPr/>
          <p:nvPr/>
        </p:nvSpPr>
        <p:spPr>
          <a:xfrm>
            <a:off x="397306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Stock Footage Enhanced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9" name="Text 29">
            <a:extLst>
              <a:ext uri="{FF2B5EF4-FFF2-40B4-BE49-F238E27FC236}">
                <a16:creationId xmlns:a16="http://schemas.microsoft.com/office/drawing/2014/main" id="{831858CB-F2D4-0ED8-6FE8-51E741C7DB9C}"/>
              </a:ext>
            </a:extLst>
          </p:cNvPr>
          <p:cNvSpPr/>
          <p:nvPr/>
        </p:nvSpPr>
        <p:spPr>
          <a:xfrm>
            <a:off x="8778240" y="637336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 Masri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365760"/>
            <a:ext cx="960120" cy="4608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E3327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STORYBOARD</a:t>
            </a:r>
            <a:endParaRPr lang="en-US" sz="1100" dirty="0">
              <a:solidFill>
                <a:srgbClr val="EE3327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ACT I — UNDERSTANDING</a:t>
            </a:r>
            <a:endParaRPr lang="en-US" sz="28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pic>
        <p:nvPicPr>
          <p:cNvPr id="5" name="Image 1" descr="scene0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417320"/>
            <a:ext cx="3514344" cy="1828800"/>
          </a:xfrm>
          <a:prstGeom prst="rect">
            <a:avLst/>
          </a:prstGeom>
          <a:ln>
            <a:solidFill>
              <a:srgbClr val="EE3327"/>
            </a:solidFill>
          </a:ln>
        </p:spPr>
      </p:pic>
      <p:sp>
        <p:nvSpPr>
          <p:cNvPr id="8" name="Text 4"/>
          <p:cNvSpPr/>
          <p:nvPr/>
        </p:nvSpPr>
        <p:spPr>
          <a:xfrm>
            <a:off x="502920" y="3355848"/>
            <a:ext cx="3514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SCENE 01</a:t>
            </a:r>
            <a:endParaRPr lang="en-US" sz="1050" dirty="0">
              <a:solidFill>
                <a:srgbClr val="EE3327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9" name="Text 5"/>
          <p:cNvSpPr/>
          <p:nvPr/>
        </p:nvSpPr>
        <p:spPr>
          <a:xfrm>
            <a:off x="502920" y="3630168"/>
            <a:ext cx="3514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At WSP, engineering begins with understanding.</a:t>
            </a:r>
            <a:r>
              <a:rPr 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02920" y="4306824"/>
            <a:ext cx="3514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VISUAL</a:t>
            </a:r>
            <a:endParaRPr lang="ar-AE" sz="850" kern="0" spc="100" dirty="0">
              <a:solidFill>
                <a:srgbClr val="8A8A8A"/>
              </a:solidFill>
              <a:latin typeface="ADNOC Sans XBold" panose="020B0804020202020204" pitchFamily="34" charset="-78"/>
              <a:ea typeface="ADNOC Sans Medium" panose="020B0504020202020204" pitchFamily="34" charset="0"/>
              <a:cs typeface="ADNOC Sans XBold" panose="020B0804020202020204" pitchFamily="34" charset="-78"/>
            </a:endParaRPr>
          </a:p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 senior engineering leader overlooks the city at sunrise, reflecting before the day begins.</a:t>
            </a:r>
            <a:endParaRPr lang="en-US" sz="8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02920" y="5125212"/>
            <a:ext cx="3514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WHY</a:t>
            </a:r>
            <a:endParaRPr lang="ar-AE" sz="850" kern="0" spc="100" dirty="0">
              <a:solidFill>
                <a:srgbClr val="8A8A8A"/>
              </a:solidFill>
              <a:latin typeface="ADNOC Sans XBold" panose="020B0804020202020204" pitchFamily="34" charset="-78"/>
              <a:ea typeface="ADNOC Sans Medium" panose="020B0504020202020204" pitchFamily="34" charset="0"/>
              <a:cs typeface="ADNOC Sans XBold" panose="020B0804020202020204" pitchFamily="34" charset="-78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Opens on insight before action engineering starts with understanding people, place, and what's ahead.</a:t>
            </a:r>
          </a:p>
        </p:txBody>
      </p:sp>
      <p:pic>
        <p:nvPicPr>
          <p:cNvPr id="12" name="Image 2" descr="scene02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7304" y="1417320"/>
            <a:ext cx="3514344" cy="1828800"/>
          </a:xfrm>
          <a:prstGeom prst="rect">
            <a:avLst/>
          </a:prstGeom>
          <a:ln>
            <a:solidFill>
              <a:srgbClr val="EE3327"/>
            </a:solidFill>
          </a:ln>
        </p:spPr>
      </p:pic>
      <p:sp>
        <p:nvSpPr>
          <p:cNvPr id="15" name="Text 10"/>
          <p:cNvSpPr/>
          <p:nvPr/>
        </p:nvSpPr>
        <p:spPr>
          <a:xfrm>
            <a:off x="4337304" y="3355848"/>
            <a:ext cx="3514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SCENE 02</a:t>
            </a:r>
            <a:endParaRPr lang="en-US" sz="1050" dirty="0">
              <a:solidFill>
                <a:srgbClr val="EE3327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337304" y="3630168"/>
            <a:ext cx="3514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As cities grow and the world continues to change.</a:t>
            </a: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337304" y="4306824"/>
            <a:ext cx="3514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VISUAL</a:t>
            </a:r>
            <a:endParaRPr lang="ar-AE" sz="850" kern="0" spc="100" dirty="0">
              <a:solidFill>
                <a:srgbClr val="8A8A8A"/>
              </a:solidFill>
              <a:latin typeface="ADNOC Sans XBold" panose="020B0804020202020204" pitchFamily="34" charset="-78"/>
              <a:ea typeface="ADNOC Sans Medium" panose="020B0504020202020204" pitchFamily="34" charset="0"/>
              <a:cs typeface="ADNOC Sans XBold" panose="020B0804020202020204" pitchFamily="34" charset="-78"/>
            </a:endParaRPr>
          </a:p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 cinematic aerial view reveals a modern city's integrated transit, public space, and evolving infrastructure.</a:t>
            </a:r>
            <a:endParaRPr lang="en-US" sz="8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337304" y="5125212"/>
            <a:ext cx="3514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WHY</a:t>
            </a:r>
            <a:endParaRPr lang="ar-AE" sz="850" kern="0" spc="100" dirty="0">
              <a:solidFill>
                <a:srgbClr val="8A8A8A"/>
              </a:solidFill>
              <a:latin typeface="ADNOC Sans XBold" panose="020B0804020202020204" pitchFamily="34" charset="-78"/>
              <a:ea typeface="ADNOC Sans Medium" panose="020B0504020202020204" pitchFamily="34" charset="0"/>
              <a:cs typeface="ADNOC Sans XBold" panose="020B0804020202020204" pitchFamily="34" charset="-78"/>
            </a:endParaRPr>
          </a:p>
          <a:p>
            <a:pPr>
              <a:lnSpc>
                <a:spcPts val="1200"/>
              </a:lnSpc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Establishes the scale of growth and complexity that engineering must respond to.</a:t>
            </a:r>
          </a:p>
        </p:txBody>
      </p:sp>
      <p:pic>
        <p:nvPicPr>
          <p:cNvPr id="19" name="Image 3" descr="scene03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71688" y="1417320"/>
            <a:ext cx="3514344" cy="1828800"/>
          </a:xfrm>
          <a:prstGeom prst="rect">
            <a:avLst/>
          </a:prstGeom>
          <a:ln>
            <a:solidFill>
              <a:srgbClr val="EE3327"/>
            </a:solidFill>
          </a:ln>
        </p:spPr>
      </p:pic>
      <p:sp>
        <p:nvSpPr>
          <p:cNvPr id="22" name="Text 16"/>
          <p:cNvSpPr/>
          <p:nvPr/>
        </p:nvSpPr>
        <p:spPr>
          <a:xfrm>
            <a:off x="8171688" y="3355848"/>
            <a:ext cx="3514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SCENE 03</a:t>
            </a:r>
            <a:endParaRPr lang="en-US" sz="1050" dirty="0">
              <a:solidFill>
                <a:srgbClr val="EE3327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8171688" y="3630168"/>
            <a:ext cx="3514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"The decisions we make today will shape how people live tomorrow."</a:t>
            </a:r>
          </a:p>
        </p:txBody>
      </p:sp>
      <p:sp>
        <p:nvSpPr>
          <p:cNvPr id="24" name="Text 18"/>
          <p:cNvSpPr/>
          <p:nvPr/>
        </p:nvSpPr>
        <p:spPr>
          <a:xfrm>
            <a:off x="8171688" y="4306824"/>
            <a:ext cx="3514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VISUAL</a:t>
            </a:r>
            <a:endParaRPr lang="ar-AE" sz="850" kern="0" spc="100" dirty="0">
              <a:solidFill>
                <a:srgbClr val="8A8A8A"/>
              </a:solidFill>
              <a:latin typeface="ADNOC Sans XBold" panose="020B0804020202020204" pitchFamily="34" charset="-78"/>
              <a:ea typeface="ADNOC Sans Medium" panose="020B0504020202020204" pitchFamily="34" charset="0"/>
              <a:cs typeface="ADNOC Sans XBold" panose="020B0804020202020204" pitchFamily="34" charset="-78"/>
            </a:endParaRPr>
          </a:p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An engineer studies a bridge scale model, evaluating the design before construction begins.</a:t>
            </a:r>
            <a:endParaRPr lang="en-US" sz="8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8171688" y="5125212"/>
            <a:ext cx="3514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1200"/>
              </a:lnSpc>
              <a:buNone/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WHY</a:t>
            </a:r>
            <a:endParaRPr lang="ar-AE" sz="850" kern="0" spc="100" dirty="0">
              <a:solidFill>
                <a:srgbClr val="8A8A8A"/>
              </a:solidFill>
              <a:latin typeface="ADNOC Sans XBold" panose="020B0804020202020204" pitchFamily="34" charset="-78"/>
              <a:ea typeface="ADNOC Sans Medium" panose="020B0504020202020204" pitchFamily="34" charset="0"/>
              <a:cs typeface="ADNOC Sans XBold" panose="020B0804020202020204" pitchFamily="34" charset="-78"/>
            </a:endParaRPr>
          </a:p>
          <a:p>
            <a:pPr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Early design decisions carry long-term consequences; thoughtful planning shapes tomorrow.</a:t>
            </a: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779666D2-AA6B-6C48-DF55-1789F87A4942}"/>
              </a:ext>
            </a:extLst>
          </p:cNvPr>
          <p:cNvSpPr/>
          <p:nvPr/>
        </p:nvSpPr>
        <p:spPr>
          <a:xfrm>
            <a:off x="640080" y="6437376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B2BCA5C2-E80E-FE87-C150-43313EC065CE}"/>
              </a:ext>
            </a:extLst>
          </p:cNvPr>
          <p:cNvSpPr/>
          <p:nvPr/>
        </p:nvSpPr>
        <p:spPr>
          <a:xfrm>
            <a:off x="84124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Generated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70DC621E-105A-7389-EA1F-A656565499EC}"/>
              </a:ext>
            </a:extLst>
          </p:cNvPr>
          <p:cNvSpPr/>
          <p:nvPr/>
        </p:nvSpPr>
        <p:spPr>
          <a:xfrm>
            <a:off x="2240280" y="64373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A914B76-8FA5-1358-FAE6-E562CB038A73}"/>
              </a:ext>
            </a:extLst>
          </p:cNvPr>
          <p:cNvSpPr/>
          <p:nvPr/>
        </p:nvSpPr>
        <p:spPr>
          <a:xfrm>
            <a:off x="244144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Enhanced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EAEBF5C6-3642-BD80-7BB7-F63E09C54ED7}"/>
              </a:ext>
            </a:extLst>
          </p:cNvPr>
          <p:cNvSpPr/>
          <p:nvPr/>
        </p:nvSpPr>
        <p:spPr>
          <a:xfrm>
            <a:off x="3771900" y="6437376"/>
            <a:ext cx="109728" cy="109728"/>
          </a:xfrm>
          <a:prstGeom prst="ellipse">
            <a:avLst/>
          </a:prstGeom>
          <a:solidFill>
            <a:srgbClr val="B8B8B8"/>
          </a:solidFill>
          <a:ln/>
        </p:spPr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2E8626F4-5C9B-7B9D-2E4D-003397DA7BDF}"/>
              </a:ext>
            </a:extLst>
          </p:cNvPr>
          <p:cNvSpPr/>
          <p:nvPr/>
        </p:nvSpPr>
        <p:spPr>
          <a:xfrm>
            <a:off x="397306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Stock Footage Enhanced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ABD6614D-6B3E-7DC9-C28E-5DE873036BEF}"/>
              </a:ext>
            </a:extLst>
          </p:cNvPr>
          <p:cNvSpPr/>
          <p:nvPr/>
        </p:nvSpPr>
        <p:spPr>
          <a:xfrm>
            <a:off x="8778240" y="637336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 Masri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365760"/>
            <a:ext cx="960120" cy="4608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102E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STORYBOARD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ACT II — INSIGHT &amp; COLLABORATION</a:t>
            </a:r>
            <a:endParaRPr lang="en-US" sz="28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pic>
        <p:nvPicPr>
          <p:cNvPr id="5" name="Image 1" descr="scene0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417320"/>
            <a:ext cx="3514344" cy="1828800"/>
          </a:xfrm>
          <a:prstGeom prst="rect">
            <a:avLst/>
          </a:prstGeom>
          <a:ln>
            <a:solidFill>
              <a:srgbClr val="EE3327"/>
            </a:solidFill>
          </a:ln>
        </p:spPr>
      </p:pic>
      <p:sp>
        <p:nvSpPr>
          <p:cNvPr id="8" name="Text 4"/>
          <p:cNvSpPr/>
          <p:nvPr/>
        </p:nvSpPr>
        <p:spPr>
          <a:xfrm>
            <a:off x="502920" y="3355848"/>
            <a:ext cx="3514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SCENE 04</a:t>
            </a:r>
          </a:p>
        </p:txBody>
      </p:sp>
      <p:sp>
        <p:nvSpPr>
          <p:cNvPr id="9" name="Text 5"/>
          <p:cNvSpPr/>
          <p:nvPr/>
        </p:nvSpPr>
        <p:spPr>
          <a:xfrm>
            <a:off x="502920" y="3630168"/>
            <a:ext cx="3514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"At WSP, engineering begins with understanding."</a:t>
            </a:r>
          </a:p>
        </p:txBody>
      </p:sp>
      <p:sp>
        <p:nvSpPr>
          <p:cNvPr id="10" name="Text 6"/>
          <p:cNvSpPr/>
          <p:nvPr/>
        </p:nvSpPr>
        <p:spPr>
          <a:xfrm>
            <a:off x="502920" y="4306824"/>
            <a:ext cx="3514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VISUAL</a:t>
            </a:r>
            <a:endParaRPr lang="ar-AE" sz="1000" dirty="0">
              <a:solidFill>
                <a:srgbClr val="B8B8B8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An engineer interacts with a Digital Twin, analyzing a virtual city before construction begins.</a:t>
            </a:r>
          </a:p>
        </p:txBody>
      </p:sp>
      <p:sp>
        <p:nvSpPr>
          <p:cNvPr id="11" name="Text 7"/>
          <p:cNvSpPr/>
          <p:nvPr/>
        </p:nvSpPr>
        <p:spPr>
          <a:xfrm>
            <a:off x="502920" y="5125212"/>
            <a:ext cx="3514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WHY</a:t>
            </a:r>
            <a:endParaRPr lang="ar-AE" sz="1000" kern="0" spc="100" dirty="0">
              <a:solidFill>
                <a:srgbClr val="B8B8B8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>
              <a:lnSpc>
                <a:spcPts val="1250"/>
              </a:lnSpc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Understanding is built through analysis and visualization exploring scenarios before committing to reality.</a:t>
            </a:r>
          </a:p>
        </p:txBody>
      </p:sp>
      <p:pic>
        <p:nvPicPr>
          <p:cNvPr id="12" name="Image 2" descr="scene05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7304" y="1417320"/>
            <a:ext cx="3514344" cy="1828800"/>
          </a:xfrm>
          <a:prstGeom prst="rect">
            <a:avLst/>
          </a:prstGeom>
          <a:ln>
            <a:solidFill>
              <a:srgbClr val="EE3327"/>
            </a:solidFill>
          </a:ln>
        </p:spPr>
      </p:pic>
      <p:sp>
        <p:nvSpPr>
          <p:cNvPr id="15" name="Text 10"/>
          <p:cNvSpPr/>
          <p:nvPr/>
        </p:nvSpPr>
        <p:spPr>
          <a:xfrm>
            <a:off x="4337304" y="3355848"/>
            <a:ext cx="3514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SCENE 05</a:t>
            </a:r>
          </a:p>
        </p:txBody>
      </p:sp>
      <p:sp>
        <p:nvSpPr>
          <p:cNvPr id="16" name="Text 11"/>
          <p:cNvSpPr/>
          <p:nvPr/>
        </p:nvSpPr>
        <p:spPr>
          <a:xfrm>
            <a:off x="4337304" y="3630168"/>
            <a:ext cx="3514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"Bringing together advisory expertise, science, data and technology to see challenges differently."</a:t>
            </a:r>
          </a:p>
        </p:txBody>
      </p:sp>
      <p:sp>
        <p:nvSpPr>
          <p:cNvPr id="17" name="Text 12"/>
          <p:cNvSpPr/>
          <p:nvPr/>
        </p:nvSpPr>
        <p:spPr>
          <a:xfrm>
            <a:off x="4337304" y="4306824"/>
            <a:ext cx="3514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VISUAL</a:t>
            </a:r>
            <a:endParaRPr lang="ar-AE" sz="1000" dirty="0">
              <a:solidFill>
                <a:srgbClr val="B8B8B8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>
              <a:lnSpc>
                <a:spcPts val="1250"/>
              </a:lnSpc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 multidisciplinary team collaborates around a bridge model, reviewing a digital design on-screen.</a:t>
            </a:r>
          </a:p>
        </p:txBody>
      </p:sp>
      <p:sp>
        <p:nvSpPr>
          <p:cNvPr id="18" name="Text 13"/>
          <p:cNvSpPr/>
          <p:nvPr/>
        </p:nvSpPr>
        <p:spPr>
          <a:xfrm>
            <a:off x="4337304" y="5125212"/>
            <a:ext cx="3514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WHY</a:t>
            </a:r>
            <a:endParaRPr lang="ar-AE" sz="1000" dirty="0">
              <a:solidFill>
                <a:srgbClr val="B8B8B8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>
              <a:lnSpc>
                <a:spcPts val="1250"/>
              </a:lnSpc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Shows disciplines converging: technical, scientific, and digital expertise evaluated together.</a:t>
            </a:r>
          </a:p>
        </p:txBody>
      </p:sp>
      <p:pic>
        <p:nvPicPr>
          <p:cNvPr id="19" name="Image 3" descr="scene06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71688" y="1417320"/>
            <a:ext cx="3514344" cy="1828800"/>
          </a:xfrm>
          <a:prstGeom prst="rect">
            <a:avLst/>
          </a:prstGeom>
          <a:ln>
            <a:solidFill>
              <a:srgbClr val="EE3327"/>
            </a:solidFill>
          </a:ln>
        </p:spPr>
      </p:pic>
      <p:sp>
        <p:nvSpPr>
          <p:cNvPr id="22" name="Text 16"/>
          <p:cNvSpPr/>
          <p:nvPr/>
        </p:nvSpPr>
        <p:spPr>
          <a:xfrm>
            <a:off x="8171688" y="3355848"/>
            <a:ext cx="3514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SCENE 06</a:t>
            </a:r>
          </a:p>
        </p:txBody>
      </p:sp>
      <p:sp>
        <p:nvSpPr>
          <p:cNvPr id="23" name="Text 17"/>
          <p:cNvSpPr/>
          <p:nvPr/>
        </p:nvSpPr>
        <p:spPr>
          <a:xfrm>
            <a:off x="8171688" y="3630168"/>
            <a:ext cx="3514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"To design resilient infrastructure."</a:t>
            </a:r>
          </a:p>
        </p:txBody>
      </p:sp>
      <p:sp>
        <p:nvSpPr>
          <p:cNvPr id="24" name="Text 18"/>
          <p:cNvSpPr/>
          <p:nvPr/>
        </p:nvSpPr>
        <p:spPr>
          <a:xfrm>
            <a:off x="8171688" y="4306824"/>
            <a:ext cx="3514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VISUAL</a:t>
            </a:r>
            <a:endParaRPr lang="ar-AE" sz="1000" dirty="0">
              <a:solidFill>
                <a:srgbClr val="B8B8B8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>
              <a:lnSpc>
                <a:spcPts val="1250"/>
              </a:lnSpc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An engineering team reviews a large-scale urban model against a live digital infrastructure simulation.</a:t>
            </a:r>
          </a:p>
        </p:txBody>
      </p:sp>
      <p:sp>
        <p:nvSpPr>
          <p:cNvPr id="25" name="Text 19"/>
          <p:cNvSpPr/>
          <p:nvPr/>
        </p:nvSpPr>
        <p:spPr>
          <a:xfrm>
            <a:off x="8171688" y="5125212"/>
            <a:ext cx="3514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WHY</a:t>
            </a:r>
            <a:endParaRPr lang="ar-AE" sz="1000" dirty="0">
              <a:solidFill>
                <a:srgbClr val="B8B8B8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>
              <a:lnSpc>
                <a:spcPts val="1250"/>
              </a:lnSpc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Resilience is designed, not assumed, through collaboration and digital simulation before construction.</a:t>
            </a: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EAD4C783-0CE2-C664-1174-7AE42E0B351D}"/>
              </a:ext>
            </a:extLst>
          </p:cNvPr>
          <p:cNvSpPr/>
          <p:nvPr/>
        </p:nvSpPr>
        <p:spPr>
          <a:xfrm>
            <a:off x="640080" y="6437376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BA787279-7131-9DF0-1E4C-A636A0A359D1}"/>
              </a:ext>
            </a:extLst>
          </p:cNvPr>
          <p:cNvSpPr/>
          <p:nvPr/>
        </p:nvSpPr>
        <p:spPr>
          <a:xfrm>
            <a:off x="84124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Generated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957FDF83-D6DB-327E-0187-431C59EB1E44}"/>
              </a:ext>
            </a:extLst>
          </p:cNvPr>
          <p:cNvSpPr/>
          <p:nvPr/>
        </p:nvSpPr>
        <p:spPr>
          <a:xfrm>
            <a:off x="2240280" y="64373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A05CB648-035D-5829-DF01-32D7879EEFFB}"/>
              </a:ext>
            </a:extLst>
          </p:cNvPr>
          <p:cNvSpPr/>
          <p:nvPr/>
        </p:nvSpPr>
        <p:spPr>
          <a:xfrm>
            <a:off x="244144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Enhanced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6CF6B3A1-19DA-2978-2B32-48AB756EA147}"/>
              </a:ext>
            </a:extLst>
          </p:cNvPr>
          <p:cNvSpPr/>
          <p:nvPr/>
        </p:nvSpPr>
        <p:spPr>
          <a:xfrm>
            <a:off x="3771900" y="6437376"/>
            <a:ext cx="109728" cy="109728"/>
          </a:xfrm>
          <a:prstGeom prst="ellipse">
            <a:avLst/>
          </a:prstGeom>
          <a:solidFill>
            <a:srgbClr val="B8B8B8"/>
          </a:solidFill>
          <a:ln/>
        </p:spPr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7671F8A8-1901-A295-41DF-EC17D4733A75}"/>
              </a:ext>
            </a:extLst>
          </p:cNvPr>
          <p:cNvSpPr/>
          <p:nvPr/>
        </p:nvSpPr>
        <p:spPr>
          <a:xfrm>
            <a:off x="397306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Stock Footage Enhanced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A6B0B785-FD2C-D243-B1E4-614EF8CA9D91}"/>
              </a:ext>
            </a:extLst>
          </p:cNvPr>
          <p:cNvSpPr/>
          <p:nvPr/>
        </p:nvSpPr>
        <p:spPr>
          <a:xfrm>
            <a:off x="8778240" y="637336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 Masri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365760"/>
            <a:ext cx="960120" cy="4608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E3327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STORYBOARD</a:t>
            </a:r>
            <a:endParaRPr lang="en-US" sz="1100" dirty="0">
              <a:solidFill>
                <a:srgbClr val="EE3327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pic>
        <p:nvPicPr>
          <p:cNvPr id="5" name="Image 1" descr="scene0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417320"/>
            <a:ext cx="3514344" cy="1828800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8" name="Text 4"/>
          <p:cNvSpPr/>
          <p:nvPr/>
        </p:nvSpPr>
        <p:spPr>
          <a:xfrm>
            <a:off x="502920" y="3355848"/>
            <a:ext cx="3514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SCENE 07</a:t>
            </a:r>
          </a:p>
        </p:txBody>
      </p:sp>
      <p:sp>
        <p:nvSpPr>
          <p:cNvPr id="9" name="Text 5"/>
          <p:cNvSpPr/>
          <p:nvPr/>
        </p:nvSpPr>
        <p:spPr>
          <a:xfrm>
            <a:off x="502920" y="3630168"/>
            <a:ext cx="3514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"Protect natural resources."</a:t>
            </a:r>
          </a:p>
        </p:txBody>
      </p:sp>
      <p:sp>
        <p:nvSpPr>
          <p:cNvPr id="10" name="Text 6"/>
          <p:cNvSpPr/>
          <p:nvPr/>
        </p:nvSpPr>
        <p:spPr>
          <a:xfrm>
            <a:off x="502920" y="4306824"/>
            <a:ext cx="3514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VISUAL</a:t>
            </a:r>
            <a:endParaRPr lang="ar-AE" sz="1000" dirty="0">
              <a:solidFill>
                <a:srgbClr val="B8B8B8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 modern energy facility is monitored through intelligent digital overlays tracking environmental performance.</a:t>
            </a:r>
          </a:p>
        </p:txBody>
      </p:sp>
      <p:sp>
        <p:nvSpPr>
          <p:cNvPr id="11" name="Text 7"/>
          <p:cNvSpPr/>
          <p:nvPr/>
        </p:nvSpPr>
        <p:spPr>
          <a:xfrm>
            <a:off x="502920" y="5125212"/>
            <a:ext cx="3514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WHY</a:t>
            </a:r>
            <a:endParaRPr lang="ar-AE" sz="1000" kern="0" spc="100" dirty="0">
              <a:solidFill>
                <a:srgbClr val="B8B8B8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>
              <a:lnSpc>
                <a:spcPts val="1250"/>
              </a:lnSpc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Technology in service of stewardship efficiency and environmental monitoring together.</a:t>
            </a:r>
          </a:p>
        </p:txBody>
      </p:sp>
      <p:pic>
        <p:nvPicPr>
          <p:cNvPr id="12" name="Image 2" descr="scene0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7304" y="1417320"/>
            <a:ext cx="3514344" cy="1828800"/>
          </a:xfrm>
          <a:prstGeom prst="rect">
            <a:avLst/>
          </a:prstGeom>
          <a:ln>
            <a:solidFill>
              <a:srgbClr val="EE3327"/>
            </a:solidFill>
          </a:ln>
        </p:spPr>
      </p:pic>
      <p:sp>
        <p:nvSpPr>
          <p:cNvPr id="15" name="Text 10"/>
          <p:cNvSpPr/>
          <p:nvPr/>
        </p:nvSpPr>
        <p:spPr>
          <a:xfrm>
            <a:off x="4337304" y="3355848"/>
            <a:ext cx="3514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SCENE 08</a:t>
            </a:r>
          </a:p>
        </p:txBody>
      </p:sp>
      <p:sp>
        <p:nvSpPr>
          <p:cNvPr id="16" name="Text 11"/>
          <p:cNvSpPr/>
          <p:nvPr/>
        </p:nvSpPr>
        <p:spPr>
          <a:xfrm>
            <a:off x="4337304" y="3630168"/>
            <a:ext cx="3514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"Create more sustainable places."</a:t>
            </a:r>
          </a:p>
        </p:txBody>
      </p:sp>
      <p:sp>
        <p:nvSpPr>
          <p:cNvPr id="17" name="Text 12"/>
          <p:cNvSpPr/>
          <p:nvPr/>
        </p:nvSpPr>
        <p:spPr>
          <a:xfrm>
            <a:off x="4337304" y="4306824"/>
            <a:ext cx="3514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VISUAL</a:t>
            </a:r>
            <a:endParaRPr lang="ar-AE" sz="1000" dirty="0">
              <a:solidFill>
                <a:srgbClr val="B8B8B8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>
              <a:lnSpc>
                <a:spcPts val="1250"/>
              </a:lnSpc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An architect develops a sustainable urban design, weaving green space and nature into the built form.</a:t>
            </a:r>
          </a:p>
        </p:txBody>
      </p:sp>
      <p:sp>
        <p:nvSpPr>
          <p:cNvPr id="18" name="Text 13"/>
          <p:cNvSpPr/>
          <p:nvPr/>
        </p:nvSpPr>
        <p:spPr>
          <a:xfrm>
            <a:off x="4337304" y="5125212"/>
            <a:ext cx="3514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1250"/>
              </a:lnSpc>
              <a:buNone/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WHY</a:t>
            </a:r>
            <a:endParaRPr lang="ar-AE" sz="1000" kern="0" spc="100" dirty="0">
              <a:solidFill>
                <a:srgbClr val="B8B8B8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Sustainable places begin at the drawing board: architecture and nature planned as one.</a:t>
            </a:r>
          </a:p>
        </p:txBody>
      </p:sp>
      <p:pic>
        <p:nvPicPr>
          <p:cNvPr id="19" name="Image 3" descr="scene09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71688" y="1417320"/>
            <a:ext cx="3514344" cy="1828800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22" name="Text 16"/>
          <p:cNvSpPr/>
          <p:nvPr/>
        </p:nvSpPr>
        <p:spPr>
          <a:xfrm>
            <a:off x="8171688" y="3355848"/>
            <a:ext cx="3514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SCENE 09</a:t>
            </a:r>
          </a:p>
        </p:txBody>
      </p:sp>
      <p:sp>
        <p:nvSpPr>
          <p:cNvPr id="23" name="Text 17"/>
          <p:cNvSpPr/>
          <p:nvPr/>
        </p:nvSpPr>
        <p:spPr>
          <a:xfrm>
            <a:off x="8171688" y="3630168"/>
            <a:ext cx="3514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"And connect communities through smarter mobility, energy and the built environment."</a:t>
            </a:r>
          </a:p>
        </p:txBody>
      </p:sp>
      <p:sp>
        <p:nvSpPr>
          <p:cNvPr id="24" name="Text 18"/>
          <p:cNvSpPr/>
          <p:nvPr/>
        </p:nvSpPr>
        <p:spPr>
          <a:xfrm>
            <a:off x="8171688" y="4306824"/>
            <a:ext cx="3514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1250"/>
              </a:lnSpc>
              <a:buNone/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VISUAL</a:t>
            </a:r>
            <a:endParaRPr lang="ar-AE" sz="850" kern="0" spc="100" dirty="0">
              <a:solidFill>
                <a:srgbClr val="8A8A8A"/>
              </a:solidFill>
              <a:latin typeface="ADNOC Sans XBold" panose="020B0804020202020204" pitchFamily="34" charset="-78"/>
              <a:ea typeface="ADNOC Sans Medium" panose="020B0504020202020204" pitchFamily="34" charset="0"/>
              <a:cs typeface="ADNOC Sans XBold" panose="020B0804020202020204" pitchFamily="34" charset="-78"/>
            </a:endParaRPr>
          </a:p>
          <a:p>
            <a:pPr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An aerial highway interchange is overlaid with intelligent digital connections, visualizing a smart network.</a:t>
            </a:r>
          </a:p>
        </p:txBody>
      </p:sp>
      <p:sp>
        <p:nvSpPr>
          <p:cNvPr id="25" name="Text 19"/>
          <p:cNvSpPr/>
          <p:nvPr/>
        </p:nvSpPr>
        <p:spPr>
          <a:xfrm>
            <a:off x="8171688" y="5125212"/>
            <a:ext cx="3514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WHY</a:t>
            </a:r>
            <a:endParaRPr lang="ar-AE" sz="1000" kern="0" spc="100" dirty="0">
              <a:solidFill>
                <a:srgbClr val="B8B8B8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>
              <a:lnSpc>
                <a:spcPts val="1250"/>
              </a:lnSpc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Makes the invisible visible: the connected intelligence behind safer, smarter transportation.</a:t>
            </a: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1D4E6B44-1EDE-0214-E61C-E5EB9F3046E0}"/>
              </a:ext>
            </a:extLst>
          </p:cNvPr>
          <p:cNvSpPr/>
          <p:nvPr/>
        </p:nvSpPr>
        <p:spPr>
          <a:xfrm>
            <a:off x="640080" y="6437376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DEDF311D-26BD-C9BC-0E3B-CE0EA68B1555}"/>
              </a:ext>
            </a:extLst>
          </p:cNvPr>
          <p:cNvSpPr/>
          <p:nvPr/>
        </p:nvSpPr>
        <p:spPr>
          <a:xfrm>
            <a:off x="84124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Generated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493549B8-7350-AC99-B87A-1735C9F2CC92}"/>
              </a:ext>
            </a:extLst>
          </p:cNvPr>
          <p:cNvSpPr/>
          <p:nvPr/>
        </p:nvSpPr>
        <p:spPr>
          <a:xfrm>
            <a:off x="2240280" y="64373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831D65F4-CB64-39AD-CD38-1139F419C059}"/>
              </a:ext>
            </a:extLst>
          </p:cNvPr>
          <p:cNvSpPr/>
          <p:nvPr/>
        </p:nvSpPr>
        <p:spPr>
          <a:xfrm>
            <a:off x="244144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Enhanced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9FD01207-93EF-1721-3BCD-74B1B63998DC}"/>
              </a:ext>
            </a:extLst>
          </p:cNvPr>
          <p:cNvSpPr/>
          <p:nvPr/>
        </p:nvSpPr>
        <p:spPr>
          <a:xfrm>
            <a:off x="3771900" y="6437376"/>
            <a:ext cx="109728" cy="109728"/>
          </a:xfrm>
          <a:prstGeom prst="ellipse">
            <a:avLst/>
          </a:prstGeom>
          <a:solidFill>
            <a:srgbClr val="B8B8B8"/>
          </a:solidFill>
          <a:ln/>
        </p:spPr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AF607EF4-C3B5-7523-B67A-809DE770F553}"/>
              </a:ext>
            </a:extLst>
          </p:cNvPr>
          <p:cNvSpPr/>
          <p:nvPr/>
        </p:nvSpPr>
        <p:spPr>
          <a:xfrm>
            <a:off x="397306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Stock Footage Enhanced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4181B4A5-9E3D-8645-8F2E-86EA2AD19F8D}"/>
              </a:ext>
            </a:extLst>
          </p:cNvPr>
          <p:cNvSpPr/>
          <p:nvPr/>
        </p:nvSpPr>
        <p:spPr>
          <a:xfrm>
            <a:off x="8778240" y="637336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 Masri</a:t>
            </a:r>
            <a:endParaRPr lang="en-US" sz="9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86F683E-0D1A-257D-AB68-37B71F472FCB}"/>
              </a:ext>
            </a:extLst>
          </p:cNvPr>
          <p:cNvSpPr/>
          <p:nvPr/>
        </p:nvSpPr>
        <p:spPr>
          <a:xfrm>
            <a:off x="502920" y="6400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ACT III — SUSTAINABILITY AND INNOVATION </a:t>
            </a:r>
            <a:endParaRPr lang="en-US" sz="28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365760"/>
            <a:ext cx="960120" cy="4608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ACT IV — IMPACT AND SHAPING THE FUTURE</a:t>
            </a:r>
            <a:endParaRPr lang="en-US" sz="28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pic>
        <p:nvPicPr>
          <p:cNvPr id="5" name="Image 1" descr="scene1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417320"/>
            <a:ext cx="3514344" cy="1828800"/>
          </a:xfrm>
          <a:prstGeom prst="rect">
            <a:avLst/>
          </a:prstGeom>
          <a:ln>
            <a:solidFill>
              <a:srgbClr val="EE3327"/>
            </a:solidFill>
          </a:ln>
        </p:spPr>
      </p:pic>
      <p:sp>
        <p:nvSpPr>
          <p:cNvPr id="8" name="Text 4"/>
          <p:cNvSpPr/>
          <p:nvPr/>
        </p:nvSpPr>
        <p:spPr>
          <a:xfrm>
            <a:off x="502920" y="3355848"/>
            <a:ext cx="3514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SCENE 10</a:t>
            </a:r>
          </a:p>
        </p:txBody>
      </p:sp>
      <p:sp>
        <p:nvSpPr>
          <p:cNvPr id="9" name="Text 5"/>
          <p:cNvSpPr/>
          <p:nvPr/>
        </p:nvSpPr>
        <p:spPr>
          <a:xfrm>
            <a:off x="502920" y="3630168"/>
            <a:ext cx="3514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"Energy and the built environment."</a:t>
            </a:r>
          </a:p>
        </p:txBody>
      </p:sp>
      <p:sp>
        <p:nvSpPr>
          <p:cNvPr id="10" name="Text 6"/>
          <p:cNvSpPr/>
          <p:nvPr/>
        </p:nvSpPr>
        <p:spPr>
          <a:xfrm>
            <a:off x="502920" y="4306824"/>
            <a:ext cx="3514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VISUAL   </a:t>
            </a:r>
            <a:endParaRPr lang="ar-AE" sz="850" kern="0" spc="100" dirty="0">
              <a:solidFill>
                <a:srgbClr val="8A8A8A"/>
              </a:solidFill>
              <a:latin typeface="ADNOC Sans XBold" panose="020B0804020202020204" pitchFamily="34" charset="-78"/>
              <a:ea typeface="ADNOC Sans Medium" panose="020B0504020202020204" pitchFamily="34" charset="0"/>
              <a:cs typeface="ADNOC Sans XBold" panose="020B0804020202020204" pitchFamily="34" charset="-78"/>
            </a:endParaRPr>
          </a:p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 wind turbine operates with subtle AI-powered energy-flow visualization woven into the frame.</a:t>
            </a:r>
          </a:p>
        </p:txBody>
      </p:sp>
      <p:sp>
        <p:nvSpPr>
          <p:cNvPr id="11" name="Text 7"/>
          <p:cNvSpPr/>
          <p:nvPr/>
        </p:nvSpPr>
        <p:spPr>
          <a:xfrm>
            <a:off x="502920" y="5125212"/>
            <a:ext cx="3514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WHY</a:t>
            </a:r>
            <a:endParaRPr lang="ar-AE" sz="850" kern="0" spc="100" dirty="0">
              <a:solidFill>
                <a:srgbClr val="8A8A8A"/>
              </a:solidFill>
              <a:latin typeface="ADNOC Sans XBold" panose="020B0804020202020204" pitchFamily="34" charset="-78"/>
              <a:ea typeface="ADNOC Sans Medium" panose="020B0504020202020204" pitchFamily="34" charset="0"/>
              <a:cs typeface="ADNOC Sans XBold" panose="020B0804020202020204" pitchFamily="34" charset="-78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Renewable energy shown as integrated infrastructure, not a standalone icon.</a:t>
            </a:r>
          </a:p>
        </p:txBody>
      </p:sp>
      <p:pic>
        <p:nvPicPr>
          <p:cNvPr id="12" name="Image 2" descr="scene1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7304" y="1417320"/>
            <a:ext cx="3514344" cy="1828800"/>
          </a:xfrm>
          <a:prstGeom prst="rect">
            <a:avLst/>
          </a:prstGeom>
          <a:ln>
            <a:solidFill>
              <a:srgbClr val="EE3327"/>
            </a:solidFill>
          </a:ln>
        </p:spPr>
      </p:pic>
      <p:sp>
        <p:nvSpPr>
          <p:cNvPr id="15" name="Text 10"/>
          <p:cNvSpPr/>
          <p:nvPr/>
        </p:nvSpPr>
        <p:spPr>
          <a:xfrm>
            <a:off x="4337304" y="3355848"/>
            <a:ext cx="3514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SCENE 11</a:t>
            </a:r>
          </a:p>
        </p:txBody>
      </p:sp>
      <p:sp>
        <p:nvSpPr>
          <p:cNvPr id="16" name="Text 11"/>
          <p:cNvSpPr/>
          <p:nvPr/>
        </p:nvSpPr>
        <p:spPr>
          <a:xfrm>
            <a:off x="4337304" y="3630168"/>
            <a:ext cx="3514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"Because progress is not measured only by what we build, but by the positive impact it creates for people and the planet."</a:t>
            </a:r>
          </a:p>
        </p:txBody>
      </p:sp>
      <p:sp>
        <p:nvSpPr>
          <p:cNvPr id="17" name="Text 12"/>
          <p:cNvSpPr/>
          <p:nvPr/>
        </p:nvSpPr>
        <p:spPr>
          <a:xfrm>
            <a:off x="4337304" y="4306824"/>
            <a:ext cx="3514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VISUAL   </a:t>
            </a:r>
            <a:endParaRPr lang="ar-AE" sz="850" kern="0" spc="100" dirty="0">
              <a:solidFill>
                <a:srgbClr val="8A8A8A"/>
              </a:solidFill>
              <a:latin typeface="ADNOC Sans XBold" panose="020B0804020202020204" pitchFamily="34" charset="-78"/>
              <a:ea typeface="ADNOC Sans Medium" panose="020B0504020202020204" pitchFamily="34" charset="0"/>
              <a:cs typeface="ADNOC Sans XBold" panose="020B0804020202020204" pitchFamily="34" charset="-78"/>
            </a:endParaRPr>
          </a:p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 child walks safely through a vibrant, people-centered community of green space and everyday life.</a:t>
            </a:r>
          </a:p>
        </p:txBody>
      </p:sp>
      <p:sp>
        <p:nvSpPr>
          <p:cNvPr id="18" name="Text 13"/>
          <p:cNvSpPr/>
          <p:nvPr/>
        </p:nvSpPr>
        <p:spPr>
          <a:xfrm>
            <a:off x="4337304" y="5125212"/>
            <a:ext cx="3514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WHY   </a:t>
            </a:r>
            <a:endParaRPr lang="ar-AE" sz="850" kern="0" spc="100" dirty="0">
              <a:solidFill>
                <a:srgbClr val="8A8A8A"/>
              </a:solidFill>
              <a:latin typeface="ADNOC Sans XBold" panose="020B0804020202020204" pitchFamily="34" charset="-78"/>
              <a:ea typeface="ADNOC Sans Medium" panose="020B0504020202020204" pitchFamily="34" charset="0"/>
              <a:cs typeface="ADNOC Sans XBold" panose="020B0804020202020204" pitchFamily="34" charset="-78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Shifts focus from structures to people the true measure of engineering's success.</a:t>
            </a:r>
          </a:p>
        </p:txBody>
      </p:sp>
      <p:pic>
        <p:nvPicPr>
          <p:cNvPr id="19" name="Image 3" descr="scene1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71688" y="1417320"/>
            <a:ext cx="3514344" cy="1828800"/>
          </a:xfrm>
          <a:prstGeom prst="rect">
            <a:avLst/>
          </a:prstGeom>
          <a:ln>
            <a:solidFill>
              <a:srgbClr val="EE3327"/>
            </a:solidFill>
          </a:ln>
        </p:spPr>
      </p:pic>
      <p:sp>
        <p:nvSpPr>
          <p:cNvPr id="22" name="Text 16"/>
          <p:cNvSpPr/>
          <p:nvPr/>
        </p:nvSpPr>
        <p:spPr>
          <a:xfrm>
            <a:off x="8171688" y="3355848"/>
            <a:ext cx="3514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SCENE 12</a:t>
            </a:r>
          </a:p>
        </p:txBody>
      </p:sp>
      <p:sp>
        <p:nvSpPr>
          <p:cNvPr id="23" name="Text 17"/>
          <p:cNvSpPr/>
          <p:nvPr/>
        </p:nvSpPr>
        <p:spPr>
          <a:xfrm>
            <a:off x="8171688" y="3630168"/>
            <a:ext cx="3514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"Turning possibility into lasting progress."</a:t>
            </a:r>
          </a:p>
        </p:txBody>
      </p:sp>
      <p:sp>
        <p:nvSpPr>
          <p:cNvPr id="24" name="Text 18"/>
          <p:cNvSpPr/>
          <p:nvPr/>
        </p:nvSpPr>
        <p:spPr>
          <a:xfrm>
            <a:off x="8171688" y="4306824"/>
            <a:ext cx="3514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VISUAL   </a:t>
            </a:r>
            <a:endParaRPr lang="ar-AE" sz="850" kern="0" spc="100" dirty="0">
              <a:solidFill>
                <a:srgbClr val="8A8A8A"/>
              </a:solidFill>
              <a:latin typeface="ADNOC Sans XBold" panose="020B0804020202020204" pitchFamily="34" charset="-78"/>
              <a:ea typeface="ADNOC Sans Medium" panose="020B0504020202020204" pitchFamily="34" charset="0"/>
              <a:cs typeface="ADNOC Sans XBold" panose="020B0804020202020204" pitchFamily="34" charset="-78"/>
            </a:endParaRPr>
          </a:p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 connected smart city comes to life through subtle digital infrastructure networks at dusk.</a:t>
            </a:r>
          </a:p>
        </p:txBody>
      </p:sp>
      <p:sp>
        <p:nvSpPr>
          <p:cNvPr id="25" name="Text 19"/>
          <p:cNvSpPr/>
          <p:nvPr/>
        </p:nvSpPr>
        <p:spPr>
          <a:xfrm>
            <a:off x="8171688" y="5125212"/>
            <a:ext cx="35143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1200"/>
              </a:lnSpc>
              <a:buNone/>
            </a:pPr>
            <a:r>
              <a:rPr lang="en-US" sz="850" kern="0" spc="100" dirty="0">
                <a:solidFill>
                  <a:srgbClr val="8A8A8A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WHY   </a:t>
            </a:r>
            <a:endParaRPr lang="ar-AE" sz="850" kern="0" spc="100" dirty="0">
              <a:solidFill>
                <a:srgbClr val="8A8A8A"/>
              </a:solidFill>
              <a:latin typeface="ADNOC Sans XBold" panose="020B0804020202020204" pitchFamily="34" charset="-78"/>
              <a:ea typeface="ADNOC Sans Medium" panose="020B0504020202020204" pitchFamily="34" charset="0"/>
              <a:cs typeface="ADNOC Sans XBold" panose="020B0804020202020204" pitchFamily="34" charset="-78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The closing image: innovation, collaboration, and infrastructure resolved into one skyline.</a:t>
            </a:r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8D9A9D96-7859-CA67-BBC7-594CFA36E358}"/>
              </a:ext>
            </a:extLst>
          </p:cNvPr>
          <p:cNvSpPr/>
          <p:nvPr/>
        </p:nvSpPr>
        <p:spPr>
          <a:xfrm>
            <a:off x="640080" y="6437376"/>
            <a:ext cx="109728" cy="109728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31CE2425-460F-1195-1E8A-6C9E2162C00F}"/>
              </a:ext>
            </a:extLst>
          </p:cNvPr>
          <p:cNvSpPr/>
          <p:nvPr/>
        </p:nvSpPr>
        <p:spPr>
          <a:xfrm>
            <a:off x="84124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Generated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827BC39C-F9AC-54D3-EC9C-69FB3CB76BB9}"/>
              </a:ext>
            </a:extLst>
          </p:cNvPr>
          <p:cNvSpPr/>
          <p:nvPr/>
        </p:nvSpPr>
        <p:spPr>
          <a:xfrm>
            <a:off x="2240280" y="64373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1571DA5D-F54D-F791-73F9-D12CC22A0399}"/>
              </a:ext>
            </a:extLst>
          </p:cNvPr>
          <p:cNvSpPr/>
          <p:nvPr/>
        </p:nvSpPr>
        <p:spPr>
          <a:xfrm>
            <a:off x="244144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Enhanced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93EE80A4-EB1B-419C-59FC-410D3567655A}"/>
              </a:ext>
            </a:extLst>
          </p:cNvPr>
          <p:cNvSpPr/>
          <p:nvPr/>
        </p:nvSpPr>
        <p:spPr>
          <a:xfrm>
            <a:off x="3771900" y="6437376"/>
            <a:ext cx="109728" cy="109728"/>
          </a:xfrm>
          <a:prstGeom prst="ellipse">
            <a:avLst/>
          </a:prstGeom>
          <a:solidFill>
            <a:srgbClr val="B8B8B8"/>
          </a:solidFill>
          <a:ln/>
        </p:spPr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F038F69F-3885-80FC-AA44-A00A7D13D194}"/>
              </a:ext>
            </a:extLst>
          </p:cNvPr>
          <p:cNvSpPr/>
          <p:nvPr/>
        </p:nvSpPr>
        <p:spPr>
          <a:xfrm>
            <a:off x="3973068" y="6373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Stock Footage Enhanced</a:t>
            </a:r>
            <a:endParaRPr lang="en-US" sz="8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445ABB50-C668-A1D0-9A98-25AA87C4F1B3}"/>
              </a:ext>
            </a:extLst>
          </p:cNvPr>
          <p:cNvSpPr/>
          <p:nvPr/>
        </p:nvSpPr>
        <p:spPr>
          <a:xfrm>
            <a:off x="8778240" y="637336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 Masri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365760"/>
            <a:ext cx="960120" cy="4608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E3327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STORYBOARD</a:t>
            </a:r>
            <a:endParaRPr lang="en-US" sz="1100" dirty="0">
              <a:solidFill>
                <a:srgbClr val="EE3327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PRODUCTION APPROACH</a:t>
            </a:r>
            <a:endParaRPr lang="en-US" sz="28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3514344" cy="2651760"/>
          </a:xfrm>
          <a:prstGeom prst="roundRect">
            <a:avLst>
              <a:gd name="adj" fmla="val 2069"/>
            </a:avLst>
          </a:prstGeom>
          <a:solidFill>
            <a:srgbClr val="161616"/>
          </a:solidFill>
          <a:ln w="3175">
            <a:solidFill>
              <a:srgbClr val="EE3327">
                <a:alpha val="50196"/>
              </a:srgbClr>
            </a:solidFill>
          </a:ln>
        </p:spPr>
      </p:sp>
      <p:sp>
        <p:nvSpPr>
          <p:cNvPr id="6" name="Text 3"/>
          <p:cNvSpPr/>
          <p:nvPr/>
        </p:nvSpPr>
        <p:spPr>
          <a:xfrm>
            <a:off x="758952" y="1645920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STYLE</a:t>
            </a:r>
            <a:endParaRPr lang="en-US" sz="1200" dirty="0">
              <a:solidFill>
                <a:srgbClr val="EE3327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7" name="Text 4"/>
          <p:cNvSpPr/>
          <p:nvPr/>
        </p:nvSpPr>
        <p:spPr>
          <a:xfrm>
            <a:off x="758952" y="2103120"/>
            <a:ext cx="3002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Cinematic Documentary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Human-Centered Storytelling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AI-Assisted Production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Engineering Visualization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Premium Corporate Film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37304" y="1417320"/>
            <a:ext cx="3514344" cy="2651760"/>
          </a:xfrm>
          <a:prstGeom prst="roundRect">
            <a:avLst>
              <a:gd name="adj" fmla="val 2069"/>
            </a:avLst>
          </a:prstGeom>
          <a:solidFill>
            <a:srgbClr val="161616"/>
          </a:solidFill>
          <a:ln w="3175">
            <a:solidFill>
              <a:srgbClr val="EE3327">
                <a:alpha val="50196"/>
              </a:srgbClr>
            </a:solidFill>
          </a:ln>
        </p:spPr>
      </p:sp>
      <p:sp>
        <p:nvSpPr>
          <p:cNvPr id="9" name="Text 6"/>
          <p:cNvSpPr/>
          <p:nvPr/>
        </p:nvSpPr>
        <p:spPr>
          <a:xfrm>
            <a:off x="4593336" y="1645920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LOOK &amp; FEEL</a:t>
            </a:r>
            <a:endParaRPr lang="en-US" sz="1200" dirty="0">
              <a:solidFill>
                <a:srgbClr val="EE3327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93336" y="2103120"/>
            <a:ext cx="3002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Warm Natural Color Palette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Authentic Human Moments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Premium Architecture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Subtle AI Visualizations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Minimal Motion Graphics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171688" y="1417320"/>
            <a:ext cx="3514344" cy="2651760"/>
          </a:xfrm>
          <a:prstGeom prst="roundRect">
            <a:avLst>
              <a:gd name="adj" fmla="val 2069"/>
            </a:avLst>
          </a:prstGeom>
          <a:solidFill>
            <a:srgbClr val="161616"/>
          </a:solidFill>
          <a:ln w="3175">
            <a:solidFill>
              <a:srgbClr val="EE3327">
                <a:alpha val="50196"/>
              </a:srgbClr>
            </a:solidFill>
          </a:ln>
        </p:spPr>
      </p:sp>
      <p:sp>
        <p:nvSpPr>
          <p:cNvPr id="12" name="Text 9"/>
          <p:cNvSpPr/>
          <p:nvPr/>
        </p:nvSpPr>
        <p:spPr>
          <a:xfrm>
            <a:off x="8427720" y="1645920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AI PRODUCTION TECHNIQUES</a:t>
            </a:r>
            <a:endParaRPr lang="en-US" sz="1200" dirty="0">
              <a:solidFill>
                <a:srgbClr val="EE3327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427720" y="2103120"/>
            <a:ext cx="3002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Image &amp; Video Generation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Digital Twin Visualisation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Generative Scene Expansion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Compositing &amp; Cleanup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AI-Assisted Colour Matching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Voiceover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02920" y="44883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rgbClr val="EE3327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CREATIVE DIRECTION</a:t>
            </a:r>
            <a:endParaRPr lang="en-US" sz="1200" dirty="0">
              <a:solidFill>
                <a:srgbClr val="EE3327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02920" y="4555696"/>
            <a:ext cx="11155680" cy="1277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The creative approach intentionally combines authentic documentary cinematography with AI-enhanced production. Rather than treating AI as a visual spectacle, it is woven throughout production to strengthen storytelling, accelerate content creation, and visualize complex engineering concepts resulting in a cinematic narrative where engineering, science, data, and technology come together to create meaningful impact for people and the planet.</a:t>
            </a:r>
            <a:endParaRPr lang="en-US" sz="12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58C6E7E0-C282-F778-2ECD-7BBF1370CD45}"/>
              </a:ext>
            </a:extLst>
          </p:cNvPr>
          <p:cNvSpPr/>
          <p:nvPr/>
        </p:nvSpPr>
        <p:spPr>
          <a:xfrm>
            <a:off x="8778240" y="637336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 Masri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36" y="2743200"/>
            <a:ext cx="1554480" cy="746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THANK YOU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DNOC Sans XBold" panose="020B0804020202020204" pitchFamily="34" charset="-78"/>
              <a:ea typeface="+mn-ea"/>
              <a:cs typeface="ADNOC Sans XBold" panose="020B0804020202020204" pitchFamily="34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821</Words>
  <Application>Microsoft Office PowerPoint</Application>
  <PresentationFormat>Widescreen</PresentationFormat>
  <Paragraphs>139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ADNOC Sans Medium</vt:lpstr>
      <vt:lpstr>ADNOC Sans XBold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Hussein Masri</cp:lastModifiedBy>
  <cp:revision>6</cp:revision>
  <dcterms:created xsi:type="dcterms:W3CDTF">2026-08-06T19:20:35Z</dcterms:created>
  <dcterms:modified xsi:type="dcterms:W3CDTF">2026-08-06T20:31:25Z</dcterms:modified>
</cp:coreProperties>
</file>